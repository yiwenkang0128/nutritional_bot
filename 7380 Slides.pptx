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70" r:id="rId7"/>
    <p:sldId id="271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embeddedFontLst>
    <p:embeddedFont>
      <p:font typeface="DM Sans" pitchFamily="2" charset="0"/>
      <p:regular r:id="rId17"/>
      <p:bold r:id="rId18"/>
      <p:italic r:id="rId19"/>
      <p:boldItalic r:id="rId20"/>
    </p:embeddedFont>
    <p:embeddedFont>
      <p:font typeface="DM Sans Medium" pitchFamily="2" charset="0"/>
      <p:regular r:id="rId21"/>
      <p:bold r:id="rId22"/>
      <p:italic r:id="rId23"/>
      <p:boldItalic r:id="rId24"/>
    </p:embeddedFont>
    <p:embeddedFont>
      <p:font typeface="Merriweather" panose="00000500000000000000" pitchFamily="2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1C9F4"/>
    <a:srgbClr val="00CCFF"/>
    <a:srgbClr val="D0E0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15" autoAdjust="0"/>
    <p:restoredTop sz="94660"/>
  </p:normalViewPr>
  <p:slideViewPr>
    <p:cSldViewPr snapToGrid="0">
      <p:cViewPr varScale="1">
        <p:scale>
          <a:sx n="139" d="100"/>
          <a:sy n="139" d="100"/>
        </p:scale>
        <p:origin x="66" y="219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34073f53f9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5" name="Google Shape;215;g34073f53f9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34073f53f99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34073f53f99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073f53f99_1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073f53f99_1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4073f53f99_1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4073f53f99_1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4073f53f99_1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4073f53f99_1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>
          <a:extLst>
            <a:ext uri="{FF2B5EF4-FFF2-40B4-BE49-F238E27FC236}">
              <a16:creationId xmlns:a16="http://schemas.microsoft.com/office/drawing/2014/main" id="{99AF85A4-6646-E827-6A1A-C40B6A1C1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4073f53f99_1_94:notes">
            <a:extLst>
              <a:ext uri="{FF2B5EF4-FFF2-40B4-BE49-F238E27FC236}">
                <a16:creationId xmlns:a16="http://schemas.microsoft.com/office/drawing/2014/main" id="{BD3077AA-63AD-91AE-2BF1-E4121479D6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4073f53f99_1_94:notes">
            <a:extLst>
              <a:ext uri="{FF2B5EF4-FFF2-40B4-BE49-F238E27FC236}">
                <a16:creationId xmlns:a16="http://schemas.microsoft.com/office/drawing/2014/main" id="{89DD83A0-C7D8-1FC5-8B5A-53512827A2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467732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>
          <a:extLst>
            <a:ext uri="{FF2B5EF4-FFF2-40B4-BE49-F238E27FC236}">
              <a16:creationId xmlns:a16="http://schemas.microsoft.com/office/drawing/2014/main" id="{CFC037E3-02F5-F29A-4460-18BE3EF2B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4073f53f99_1_94:notes">
            <a:extLst>
              <a:ext uri="{FF2B5EF4-FFF2-40B4-BE49-F238E27FC236}">
                <a16:creationId xmlns:a16="http://schemas.microsoft.com/office/drawing/2014/main" id="{DD1DF3F8-0E57-BCAE-F343-D196FB15E4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4073f53f99_1_94:notes">
            <a:extLst>
              <a:ext uri="{FF2B5EF4-FFF2-40B4-BE49-F238E27FC236}">
                <a16:creationId xmlns:a16="http://schemas.microsoft.com/office/drawing/2014/main" id="{FA67BFC5-73AD-7DFD-0B40-E60ACD02DE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945682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4073f53f99_1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4073f53f99_1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4073f53f99_1_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4073f53f99_1_1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4073f53f99_1_2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4073f53f99_1_2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4073f53f99_1_2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4073f53f99_1_2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4073f53f99_1_2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4073f53f99_1_2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g34073f53f99_1_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1" name="Google Shape;321;g34073f53f99_1_2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4073f53f99_1_2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34073f53f99_1_2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_4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>
  <p:cSld name="SECTION_HEADER_1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body">
  <p:cSld name="TITLE_AND_BODY_1_1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two columns">
  <p:cSld name="TITLE_AND_TWO_COLUMNS_1_1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only">
  <p:cSld name="TITLE_ONLY_1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One column text">
  <p:cSld name="ONE_COLUMN_TEXT_1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Main point">
  <p:cSld name="MAIN_POINT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aption">
  <p:cSld name="CAPTION_ONLY_1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ig number">
  <p:cSld name="BIG_NUMBER_1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79400" algn="ctr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 algn="ctr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 algn="ctr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 algn="ctr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Agenda">
  <p:cSld name="CUSTOM_7_1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subTitle" idx="1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2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3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4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subTitle" idx="5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6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, body and image">
  <p:cSld name="CUSTOM_8_1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62" name="Google Shape;62;p14"/>
          <p:cNvSpPr>
            <a:spLocks noGrp="1"/>
          </p:cNvSpPr>
          <p:nvPr>
            <p:ph type="pic" idx="2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  <p:sp>
        <p:nvSpPr>
          <p:cNvPr id="63" name="Google Shape;63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wo big ideas">
  <p:cSld name="CUSTOM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68" name="Google Shape;68;p15"/>
          <p:cNvSpPr txBox="1">
            <a:spLocks noGrp="1"/>
          </p:cNvSpPr>
          <p:nvPr>
            <p:ph type="body" idx="2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69" name="Google Shape;69;p15"/>
          <p:cNvSpPr txBox="1">
            <a:spLocks noGrp="1"/>
          </p:cNvSpPr>
          <p:nvPr>
            <p:ph type="subTitle" idx="3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70" name="Google Shape;70;p15"/>
          <p:cNvSpPr txBox="1">
            <a:spLocks noGrp="1"/>
          </p:cNvSpPr>
          <p:nvPr>
            <p:ph type="subTitle" idx="4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ree big ideas">
  <p:cSld name="CUSTOM_2_2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body" idx="1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74" name="Google Shape;74;p16"/>
          <p:cNvSpPr txBox="1">
            <a:spLocks noGrp="1"/>
          </p:cNvSpPr>
          <p:nvPr>
            <p:ph type="body" idx="2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75" name="Google Shape;75;p16"/>
          <p:cNvSpPr txBox="1">
            <a:spLocks noGrp="1"/>
          </p:cNvSpPr>
          <p:nvPr>
            <p:ph type="body" idx="3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76" name="Google Shape;76;p16"/>
          <p:cNvSpPr txBox="1">
            <a:spLocks noGrp="1"/>
          </p:cNvSpPr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77" name="Google Shape;77;p16"/>
          <p:cNvSpPr txBox="1">
            <a:spLocks noGrp="1"/>
          </p:cNvSpPr>
          <p:nvPr>
            <p:ph type="subTitle" idx="4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78" name="Google Shape;78;p16"/>
          <p:cNvSpPr txBox="1">
            <a:spLocks noGrp="1"/>
          </p:cNvSpPr>
          <p:nvPr>
            <p:ph type="subTitle" idx="5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79" name="Google Shape;79;p16"/>
          <p:cNvSpPr txBox="1">
            <a:spLocks noGrp="1"/>
          </p:cNvSpPr>
          <p:nvPr>
            <p:ph type="subTitle" idx="6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our big ideas">
  <p:cSld name="CUSTOM_3_1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1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body" idx="2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84" name="Google Shape;84;p17"/>
          <p:cNvSpPr txBox="1">
            <a:spLocks noGrp="1"/>
          </p:cNvSpPr>
          <p:nvPr>
            <p:ph type="body" idx="3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85" name="Google Shape;85;p17"/>
          <p:cNvSpPr txBox="1">
            <a:spLocks noGrp="1"/>
          </p:cNvSpPr>
          <p:nvPr>
            <p:ph type="body" idx="4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SzPts val="1000"/>
              <a:buChar char="○"/>
              <a:defRPr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SzPts val="1000"/>
              <a:buChar char="■"/>
              <a:defRPr/>
            </a:lvl9pPr>
          </a:lstStyle>
          <a:p>
            <a:endParaRPr/>
          </a:p>
        </p:txBody>
      </p:sp>
      <p:sp>
        <p:nvSpPr>
          <p:cNvPr id="86" name="Google Shape;86;p17"/>
          <p:cNvSpPr txBox="1">
            <a:spLocks noGrp="1"/>
          </p:cNvSpPr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87" name="Google Shape;87;p17"/>
          <p:cNvSpPr txBox="1">
            <a:spLocks noGrp="1"/>
          </p:cNvSpPr>
          <p:nvPr>
            <p:ph type="subTitle" idx="5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8" name="Google Shape;88;p17"/>
          <p:cNvSpPr txBox="1">
            <a:spLocks noGrp="1"/>
          </p:cNvSpPr>
          <p:nvPr>
            <p:ph type="subTitle" idx="6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89" name="Google Shape;89;p17"/>
          <p:cNvSpPr txBox="1">
            <a:spLocks noGrp="1"/>
          </p:cNvSpPr>
          <p:nvPr>
            <p:ph type="subTitle" idx="7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  <p:sp>
        <p:nvSpPr>
          <p:cNvPr id="90" name="Google Shape;90;p17"/>
          <p:cNvSpPr txBox="1">
            <a:spLocks noGrp="1"/>
          </p:cNvSpPr>
          <p:nvPr>
            <p:ph type="subTitle" idx="8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image">
  <p:cSld name="TITLE_ONLY_1_1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>
            <a:endParaRPr/>
          </a:p>
        </p:txBody>
      </p:sp>
      <p:sp>
        <p:nvSpPr>
          <p:cNvPr id="93" name="Google Shape;93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8"/>
          <p:cNvSpPr>
            <a:spLocks noGrp="1"/>
          </p:cNvSpPr>
          <p:nvPr>
            <p:ph type="pic" idx="2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wo storyboards">
  <p:cSld name="CUSTOM_4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9"/>
          <p:cNvSpPr txBox="1">
            <a:spLocks noGrp="1"/>
          </p:cNvSpPr>
          <p:nvPr>
            <p:ph type="body" idx="1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97" name="Google Shape;97;p19"/>
          <p:cNvSpPr>
            <a:spLocks noGrp="1"/>
          </p:cNvSpPr>
          <p:nvPr>
            <p:ph type="pic" idx="2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8" name="Google Shape;98;p19"/>
          <p:cNvSpPr>
            <a:spLocks noGrp="1"/>
          </p:cNvSpPr>
          <p:nvPr>
            <p:ph type="pic" idx="3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99" name="Google Shape;99;p19"/>
          <p:cNvSpPr txBox="1">
            <a:spLocks noGrp="1"/>
          </p:cNvSpPr>
          <p:nvPr>
            <p:ph type="body" idx="4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0" name="Google Shape;100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1" name="Google Shape;101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>
            <a:endParaRPr/>
          </a:p>
        </p:txBody>
      </p:sp>
      <p:sp>
        <p:nvSpPr>
          <p:cNvPr id="102" name="Google Shape;102;p19"/>
          <p:cNvSpPr txBox="1">
            <a:spLocks noGrp="1"/>
          </p:cNvSpPr>
          <p:nvPr>
            <p:ph type="subTitle" idx="5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03" name="Google Shape;103;p19"/>
          <p:cNvSpPr txBox="1">
            <a:spLocks noGrp="1"/>
          </p:cNvSpPr>
          <p:nvPr>
            <p:ph type="subTitle" idx="6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ree storyboards">
  <p:cSld name="CUSTOM_4_1_1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0"/>
          <p:cNvSpPr txBox="1">
            <a:spLocks noGrp="1"/>
          </p:cNvSpPr>
          <p:nvPr>
            <p:ph type="body" idx="1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6" name="Google Shape;106;p20"/>
          <p:cNvSpPr>
            <a:spLocks noGrp="1"/>
          </p:cNvSpPr>
          <p:nvPr>
            <p:ph type="pic" idx="2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7" name="Google Shape;107;p20"/>
          <p:cNvSpPr>
            <a:spLocks noGrp="1"/>
          </p:cNvSpPr>
          <p:nvPr>
            <p:ph type="pic" idx="3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08" name="Google Shape;108;p20"/>
          <p:cNvSpPr txBox="1">
            <a:spLocks noGrp="1"/>
          </p:cNvSpPr>
          <p:nvPr>
            <p:ph type="body" idx="4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09" name="Google Shape;109;p20"/>
          <p:cNvSpPr>
            <a:spLocks noGrp="1"/>
          </p:cNvSpPr>
          <p:nvPr>
            <p:ph type="pic" idx="5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110" name="Google Shape;110;p20"/>
          <p:cNvSpPr txBox="1">
            <a:spLocks noGrp="1"/>
          </p:cNvSpPr>
          <p:nvPr>
            <p:ph type="body" idx="6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11" name="Google Shape;111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2" name="Google Shape;112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0"/>
          <p:cNvSpPr txBox="1">
            <a:spLocks noGrp="1"/>
          </p:cNvSpPr>
          <p:nvPr>
            <p:ph type="subTitle" idx="7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4" name="Google Shape;114;p20"/>
          <p:cNvSpPr txBox="1">
            <a:spLocks noGrp="1"/>
          </p:cNvSpPr>
          <p:nvPr>
            <p:ph type="subTitle" idx="8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15" name="Google Shape;115;p20"/>
          <p:cNvSpPr txBox="1">
            <a:spLocks noGrp="1"/>
          </p:cNvSpPr>
          <p:nvPr>
            <p:ph type="subTitle" idx="9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mage only">
  <p:cSld name="CUSTOM_5_1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1"/>
          <p:cNvSpPr>
            <a:spLocks noGrp="1"/>
          </p:cNvSpPr>
          <p:nvPr>
            <p:ph type="pic" idx="2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  <p:sp>
        <p:nvSpPr>
          <p:cNvPr id="118" name="Google Shape;118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mage grid">
  <p:cSld name="CUSTOM_6_1"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1" name="Google Shape;121;p22"/>
          <p:cNvSpPr>
            <a:spLocks noGrp="1"/>
          </p:cNvSpPr>
          <p:nvPr>
            <p:ph type="pic" idx="2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2" name="Google Shape;122;p22"/>
          <p:cNvSpPr>
            <a:spLocks noGrp="1"/>
          </p:cNvSpPr>
          <p:nvPr>
            <p:ph type="pic" idx="3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3" name="Google Shape;123;p22"/>
          <p:cNvSpPr>
            <a:spLocks noGrp="1"/>
          </p:cNvSpPr>
          <p:nvPr>
            <p:ph type="pic" idx="4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4" name="Google Shape;124;p22"/>
          <p:cNvSpPr>
            <a:spLocks noGrp="1"/>
          </p:cNvSpPr>
          <p:nvPr>
            <p:ph type="pic" idx="5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5" name="Google Shape;125;p22"/>
          <p:cNvSpPr>
            <a:spLocks noGrp="1"/>
          </p:cNvSpPr>
          <p:nvPr>
            <p:ph type="pic" idx="6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6" name="Google Shape;126;p22"/>
          <p:cNvSpPr>
            <a:spLocks noGrp="1"/>
          </p:cNvSpPr>
          <p:nvPr>
            <p:ph type="pic" idx="7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2"/>
          <p:cNvSpPr>
            <a:spLocks noGrp="1"/>
          </p:cNvSpPr>
          <p:nvPr>
            <p:ph type="pic" idx="8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2"/>
          <p:cNvSpPr>
            <a:spLocks noGrp="1"/>
          </p:cNvSpPr>
          <p:nvPr>
            <p:ph type="pic" idx="9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130" name="Google Shape;130;p22"/>
          <p:cNvSpPr>
            <a:spLocks noGrp="1"/>
          </p:cNvSpPr>
          <p:nvPr>
            <p:ph type="pic" idx="13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5564">
          <p15:clr>
            <a:srgbClr val="E46962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ustom title slide" type="title">
  <p:cSld name="TITLE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 txBox="1">
            <a:spLocks noGrp="1"/>
          </p:cNvSpPr>
          <p:nvPr>
            <p:ph type="body" idx="1"/>
          </p:nvPr>
        </p:nvSpPr>
        <p:spPr>
          <a:xfrm>
            <a:off x="196951" y="4737750"/>
            <a:ext cx="18603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3" name="Google Shape;133;p23"/>
          <p:cNvSpPr txBox="1">
            <a:spLocks noGrp="1"/>
          </p:cNvSpPr>
          <p:nvPr>
            <p:ph type="ctrTitle"/>
          </p:nvPr>
        </p:nvSpPr>
        <p:spPr>
          <a:xfrm>
            <a:off x="196950" y="223825"/>
            <a:ext cx="8011800" cy="187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750"/>
              <a:buNone/>
              <a:defRPr sz="675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ubTitle" idx="2"/>
          </p:nvPr>
        </p:nvSpPr>
        <p:spPr>
          <a:xfrm>
            <a:off x="196950" y="2171250"/>
            <a:ext cx="3986700" cy="5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50"/>
              <a:buFont typeface="DM Sans Medium"/>
              <a:buNone/>
              <a:defRPr sz="1850">
                <a:solidFill>
                  <a:schemeClr val="lt1"/>
                </a:solidFill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5" name="Google Shape;135;p23"/>
          <p:cNvSpPr>
            <a:spLocks noGrp="1"/>
          </p:cNvSpPr>
          <p:nvPr>
            <p:ph type="pic" idx="3"/>
          </p:nvPr>
        </p:nvSpPr>
        <p:spPr>
          <a:xfrm>
            <a:off x="4437578" y="2171250"/>
            <a:ext cx="4509600" cy="27756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sp>
        <p:nvSpPr>
          <p:cNvPr id="136" name="Google Shape;136;p23"/>
          <p:cNvSpPr txBox="1">
            <a:spLocks noGrp="1"/>
          </p:cNvSpPr>
          <p:nvPr>
            <p:ph type="body" idx="4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marL="914400" lvl="1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marL="1371600" lvl="2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marL="1828800" lvl="3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marL="2286000" lvl="4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marL="2743200" lvl="5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marL="3200400" lvl="6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marL="3657600" lvl="7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marL="4114800" lvl="8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and number" type="secHead">
  <p:cSld name="SECTION_HEADER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4"/>
          <p:cNvSpPr txBox="1">
            <a:spLocks noGrp="1"/>
          </p:cNvSpPr>
          <p:nvPr>
            <p:ph type="title"/>
          </p:nvPr>
        </p:nvSpPr>
        <p:spPr>
          <a:xfrm>
            <a:off x="511953" y="588599"/>
            <a:ext cx="7464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9" name="Google Shape;139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0" name="Google Shape;140;p24"/>
          <p:cNvSpPr txBox="1">
            <a:spLocks noGrp="1"/>
          </p:cNvSpPr>
          <p:nvPr>
            <p:ph type="title" idx="2"/>
          </p:nvPr>
        </p:nvSpPr>
        <p:spPr>
          <a:xfrm>
            <a:off x="511953" y="1430399"/>
            <a:ext cx="7464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41" name="Google Shape;141;p24"/>
          <p:cNvSpPr txBox="1">
            <a:spLocks noGrp="1"/>
          </p:cNvSpPr>
          <p:nvPr>
            <p:ph type="title" idx="3"/>
          </p:nvPr>
        </p:nvSpPr>
        <p:spPr>
          <a:xfrm>
            <a:off x="511953" y="2272199"/>
            <a:ext cx="7464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42" name="Google Shape;142;p24"/>
          <p:cNvSpPr txBox="1">
            <a:spLocks noGrp="1"/>
          </p:cNvSpPr>
          <p:nvPr>
            <p:ph type="title" idx="4"/>
          </p:nvPr>
        </p:nvSpPr>
        <p:spPr>
          <a:xfrm>
            <a:off x="511953" y="3113999"/>
            <a:ext cx="7464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43" name="Google Shape;143;p24"/>
          <p:cNvSpPr txBox="1">
            <a:spLocks noGrp="1"/>
          </p:cNvSpPr>
          <p:nvPr>
            <p:ph type="title" idx="5"/>
          </p:nvPr>
        </p:nvSpPr>
        <p:spPr>
          <a:xfrm>
            <a:off x="511953" y="3955799"/>
            <a:ext cx="7464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50"/>
              <a:buNone/>
              <a:defRPr sz="365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44" name="Google Shape;144;p24"/>
          <p:cNvSpPr txBox="1">
            <a:spLocks noGrp="1"/>
          </p:cNvSpPr>
          <p:nvPr>
            <p:ph type="body" idx="1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45" name="Google Shape;145;p24"/>
          <p:cNvSpPr txBox="1">
            <a:spLocks noGrp="1"/>
          </p:cNvSpPr>
          <p:nvPr>
            <p:ph type="body" idx="6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marL="914400" lvl="1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marL="1371600" lvl="2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marL="1828800" lvl="3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marL="2286000" lvl="4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marL="2743200" lvl="5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marL="3200400" lvl="6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marL="3657600" lvl="7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marL="4114800" lvl="8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Main Point 1" type="tx">
  <p:cSld name="TITLE_AND_BODY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8" name="Google Shape;148;p25"/>
          <p:cNvSpPr txBox="1">
            <a:spLocks noGrp="1"/>
          </p:cNvSpPr>
          <p:nvPr>
            <p:ph type="subTitle" idx="1"/>
          </p:nvPr>
        </p:nvSpPr>
        <p:spPr>
          <a:xfrm>
            <a:off x="975300" y="1864050"/>
            <a:ext cx="7193400" cy="141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50"/>
              <a:buFont typeface="Merriweather"/>
              <a:buNone/>
              <a:defRPr sz="265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149" name="Google Shape;149;p25"/>
          <p:cNvSpPr txBox="1">
            <a:spLocks noGrp="1"/>
          </p:cNvSpPr>
          <p:nvPr>
            <p:ph type="body" idx="2"/>
          </p:nvPr>
        </p:nvSpPr>
        <p:spPr>
          <a:xfrm>
            <a:off x="196951" y="196725"/>
            <a:ext cx="18591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0" name="Google Shape;150;p25"/>
          <p:cNvSpPr txBox="1">
            <a:spLocks noGrp="1"/>
          </p:cNvSpPr>
          <p:nvPr>
            <p:ph type="body" idx="3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marL="914400" lvl="1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marL="1371600" lvl="2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marL="1828800" lvl="3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marL="2286000" lvl="4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marL="2743200" lvl="5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marL="3200400" lvl="6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marL="3657600" lvl="7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marL="4114800" lvl="8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Main Point 2">
  <p:cSld name="TITLE_AND_BODY_1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3" name="Google Shape;153;p26"/>
          <p:cNvSpPr txBox="1">
            <a:spLocks noGrp="1"/>
          </p:cNvSpPr>
          <p:nvPr>
            <p:ph type="subTitle" idx="1"/>
          </p:nvPr>
        </p:nvSpPr>
        <p:spPr>
          <a:xfrm>
            <a:off x="975300" y="1864050"/>
            <a:ext cx="7193400" cy="1415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50"/>
              <a:buFont typeface="Merriweather"/>
              <a:buNone/>
              <a:defRPr sz="2650"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154" name="Google Shape;154;p26"/>
          <p:cNvSpPr txBox="1">
            <a:spLocks noGrp="1"/>
          </p:cNvSpPr>
          <p:nvPr>
            <p:ph type="body" idx="2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5" name="Google Shape;155;p26"/>
          <p:cNvSpPr txBox="1">
            <a:spLocks noGrp="1"/>
          </p:cNvSpPr>
          <p:nvPr>
            <p:ph type="body" idx="3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marL="914400" lvl="1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marL="1371600" lvl="2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marL="1828800" lvl="3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marL="2286000" lvl="4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marL="2743200" lvl="5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marL="3200400" lvl="6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marL="3657600" lvl="7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marL="4114800" lvl="8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, body and image 1" type="twoColTx">
  <p:cSld name="TITLE_AND_TWO_COLUMNS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7"/>
          <p:cNvSpPr txBox="1">
            <a:spLocks noGrp="1"/>
          </p:cNvSpPr>
          <p:nvPr>
            <p:ph type="title"/>
          </p:nvPr>
        </p:nvSpPr>
        <p:spPr>
          <a:xfrm>
            <a:off x="197375" y="1052750"/>
            <a:ext cx="3151800" cy="163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5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27"/>
          <p:cNvSpPr txBox="1">
            <a:spLocks noGrp="1"/>
          </p:cNvSpPr>
          <p:nvPr>
            <p:ph type="body" idx="1"/>
          </p:nvPr>
        </p:nvSpPr>
        <p:spPr>
          <a:xfrm>
            <a:off x="197375" y="2685650"/>
            <a:ext cx="3151800" cy="182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>
                <a:solidFill>
                  <a:schemeClr val="dk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 sz="1000">
                <a:solidFill>
                  <a:schemeClr val="dk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>
                <a:solidFill>
                  <a:schemeClr val="dk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>
                <a:solidFill>
                  <a:schemeClr val="dk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>
                <a:solidFill>
                  <a:schemeClr val="dk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>
                <a:solidFill>
                  <a:schemeClr val="dk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●"/>
              <a:defRPr>
                <a:solidFill>
                  <a:schemeClr val="dk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○"/>
              <a:defRPr>
                <a:solidFill>
                  <a:schemeClr val="dk1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9" name="Google Shape;15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0" name="Google Shape;160;p27"/>
          <p:cNvSpPr>
            <a:spLocks noGrp="1"/>
          </p:cNvSpPr>
          <p:nvPr>
            <p:ph type="pic" idx="2"/>
          </p:nvPr>
        </p:nvSpPr>
        <p:spPr>
          <a:xfrm>
            <a:off x="3726325" y="669925"/>
            <a:ext cx="5220900" cy="42768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sp>
        <p:nvSpPr>
          <p:cNvPr id="161" name="Google Shape;161;p27"/>
          <p:cNvSpPr txBox="1">
            <a:spLocks noGrp="1"/>
          </p:cNvSpPr>
          <p:nvPr>
            <p:ph type="body" idx="3"/>
          </p:nvPr>
        </p:nvSpPr>
        <p:spPr>
          <a:xfrm>
            <a:off x="196951" y="196725"/>
            <a:ext cx="18606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62" name="Google Shape;162;p27"/>
          <p:cNvSpPr txBox="1">
            <a:spLocks noGrp="1"/>
          </p:cNvSpPr>
          <p:nvPr>
            <p:ph type="body" idx="4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marL="914400" lvl="1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marL="1371600" lvl="2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marL="1828800" lvl="3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marL="2286000" lvl="4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marL="2743200" lvl="5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marL="3200400" lvl="6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marL="3657600" lvl="7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marL="4114800" lvl="8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, body and image 2">
  <p:cSld name="TITLE_AND_TWO_COLUMNS_1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8"/>
          <p:cNvSpPr txBox="1">
            <a:spLocks noGrp="1"/>
          </p:cNvSpPr>
          <p:nvPr>
            <p:ph type="title"/>
          </p:nvPr>
        </p:nvSpPr>
        <p:spPr>
          <a:xfrm>
            <a:off x="197375" y="1052750"/>
            <a:ext cx="3151800" cy="163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45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5" name="Google Shape;165;p28"/>
          <p:cNvSpPr txBox="1">
            <a:spLocks noGrp="1"/>
          </p:cNvSpPr>
          <p:nvPr>
            <p:ph type="body" idx="1"/>
          </p:nvPr>
        </p:nvSpPr>
        <p:spPr>
          <a:xfrm>
            <a:off x="197375" y="2685650"/>
            <a:ext cx="3151800" cy="182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1pPr>
            <a:lvl2pPr marL="914400" lvl="1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 sz="1000">
                <a:solidFill>
                  <a:schemeClr val="lt1"/>
                </a:solidFill>
              </a:defRPr>
            </a:lvl2pPr>
            <a:lvl3pPr marL="1371600" lvl="2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6" name="Google Shape;166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7" name="Google Shape;167;p28"/>
          <p:cNvSpPr>
            <a:spLocks noGrp="1"/>
          </p:cNvSpPr>
          <p:nvPr>
            <p:ph type="pic" idx="2"/>
          </p:nvPr>
        </p:nvSpPr>
        <p:spPr>
          <a:xfrm>
            <a:off x="3726325" y="669925"/>
            <a:ext cx="5220900" cy="42768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</p:sp>
      <p:sp>
        <p:nvSpPr>
          <p:cNvPr id="168" name="Google Shape;168;p28"/>
          <p:cNvSpPr txBox="1">
            <a:spLocks noGrp="1"/>
          </p:cNvSpPr>
          <p:nvPr>
            <p:ph type="body" idx="3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69" name="Google Shape;169;p28"/>
          <p:cNvSpPr txBox="1">
            <a:spLocks noGrp="1"/>
          </p:cNvSpPr>
          <p:nvPr>
            <p:ph type="body" idx="4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1pPr>
            <a:lvl2pPr marL="914400" lvl="1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>
                <a:solidFill>
                  <a:schemeClr val="lt1"/>
                </a:solidFill>
              </a:defRPr>
            </a:lvl2pPr>
            <a:lvl3pPr marL="1371600" lvl="2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3pPr>
            <a:lvl4pPr marL="1828800" lvl="3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4pPr>
            <a:lvl5pPr marL="2286000" lvl="4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5pPr>
            <a:lvl6pPr marL="2743200" lvl="5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6pPr>
            <a:lvl7pPr marL="3200400" lvl="6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●"/>
              <a:defRPr sz="800">
                <a:solidFill>
                  <a:schemeClr val="lt1"/>
                </a:solidFill>
              </a:defRPr>
            </a:lvl7pPr>
            <a:lvl8pPr marL="3657600" lvl="7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○"/>
              <a:defRPr sz="800">
                <a:solidFill>
                  <a:schemeClr val="lt1"/>
                </a:solidFill>
              </a:defRPr>
            </a:lvl8pPr>
            <a:lvl9pPr marL="4114800" lvl="8" indent="-279400" algn="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"/>
              <a:buChar char="■"/>
              <a:defRPr sz="8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70" name="Google Shape;170;p28"/>
          <p:cNvSpPr txBox="1">
            <a:spLocks noGrp="1"/>
          </p:cNvSpPr>
          <p:nvPr>
            <p:ph type="sldNum" idx="5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lt1"/>
                </a:solidFill>
              </a:defRPr>
            </a:lvl1pPr>
            <a:lvl2pPr lvl="1" rtl="0">
              <a:buNone/>
              <a:defRPr>
                <a:solidFill>
                  <a:schemeClr val="lt1"/>
                </a:solidFill>
              </a:defRPr>
            </a:lvl2pPr>
            <a:lvl3pPr lvl="2" rtl="0">
              <a:buNone/>
              <a:defRPr>
                <a:solidFill>
                  <a:schemeClr val="lt1"/>
                </a:solidFill>
              </a:defRPr>
            </a:lvl3pPr>
            <a:lvl4pPr lvl="3" rtl="0">
              <a:buNone/>
              <a:defRPr>
                <a:solidFill>
                  <a:schemeClr val="lt1"/>
                </a:solidFill>
              </a:defRPr>
            </a:lvl4pPr>
            <a:lvl5pPr lvl="4" rtl="0">
              <a:buNone/>
              <a:defRPr>
                <a:solidFill>
                  <a:schemeClr val="lt1"/>
                </a:solidFill>
              </a:defRPr>
            </a:lvl5pPr>
            <a:lvl6pPr lvl="5" rtl="0">
              <a:buNone/>
              <a:defRPr>
                <a:solidFill>
                  <a:schemeClr val="lt1"/>
                </a:solidFill>
              </a:defRPr>
            </a:lvl6pPr>
            <a:lvl7pPr lvl="6" rtl="0">
              <a:buNone/>
              <a:defRPr>
                <a:solidFill>
                  <a:schemeClr val="lt1"/>
                </a:solidFill>
              </a:defRPr>
            </a:lvl7pPr>
            <a:lvl8pPr lvl="7" rtl="0">
              <a:buNone/>
              <a:defRPr>
                <a:solidFill>
                  <a:schemeClr val="lt1"/>
                </a:solidFill>
              </a:defRPr>
            </a:lvl8pPr>
            <a:lvl9pPr lvl="8" rtl="0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Appendix">
  <p:cSld name="CAPTION_ONLY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0" name="Google Shape;180;p30"/>
          <p:cNvSpPr txBox="1">
            <a:spLocks noGrp="1"/>
          </p:cNvSpPr>
          <p:nvPr>
            <p:ph type="body" idx="1"/>
          </p:nvPr>
        </p:nvSpPr>
        <p:spPr>
          <a:xfrm>
            <a:off x="203000" y="891450"/>
            <a:ext cx="26448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81" name="Google Shape;181;p30"/>
          <p:cNvSpPr txBox="1">
            <a:spLocks noGrp="1"/>
          </p:cNvSpPr>
          <p:nvPr>
            <p:ph type="body" idx="2"/>
          </p:nvPr>
        </p:nvSpPr>
        <p:spPr>
          <a:xfrm>
            <a:off x="203000" y="13204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82" name="Google Shape;182;p30"/>
          <p:cNvSpPr txBox="1">
            <a:spLocks noGrp="1"/>
          </p:cNvSpPr>
          <p:nvPr>
            <p:ph type="body" idx="3"/>
          </p:nvPr>
        </p:nvSpPr>
        <p:spPr>
          <a:xfrm>
            <a:off x="203000" y="15886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83" name="Google Shape;183;p30"/>
          <p:cNvSpPr txBox="1">
            <a:spLocks noGrp="1"/>
          </p:cNvSpPr>
          <p:nvPr>
            <p:ph type="body" idx="4"/>
          </p:nvPr>
        </p:nvSpPr>
        <p:spPr>
          <a:xfrm>
            <a:off x="203000" y="2206550"/>
            <a:ext cx="26448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84" name="Google Shape;184;p30"/>
          <p:cNvSpPr txBox="1">
            <a:spLocks noGrp="1"/>
          </p:cNvSpPr>
          <p:nvPr>
            <p:ph type="body" idx="5"/>
          </p:nvPr>
        </p:nvSpPr>
        <p:spPr>
          <a:xfrm>
            <a:off x="203000" y="26355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85" name="Google Shape;185;p30"/>
          <p:cNvSpPr txBox="1">
            <a:spLocks noGrp="1"/>
          </p:cNvSpPr>
          <p:nvPr>
            <p:ph type="body" idx="6"/>
          </p:nvPr>
        </p:nvSpPr>
        <p:spPr>
          <a:xfrm>
            <a:off x="203000" y="29037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86" name="Google Shape;186;p30"/>
          <p:cNvSpPr txBox="1">
            <a:spLocks noGrp="1"/>
          </p:cNvSpPr>
          <p:nvPr>
            <p:ph type="body" idx="7"/>
          </p:nvPr>
        </p:nvSpPr>
        <p:spPr>
          <a:xfrm>
            <a:off x="203000" y="3433400"/>
            <a:ext cx="26448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87" name="Google Shape;187;p30"/>
          <p:cNvSpPr txBox="1">
            <a:spLocks noGrp="1"/>
          </p:cNvSpPr>
          <p:nvPr>
            <p:ph type="body" idx="8"/>
          </p:nvPr>
        </p:nvSpPr>
        <p:spPr>
          <a:xfrm>
            <a:off x="203000" y="386240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88" name="Google Shape;188;p30"/>
          <p:cNvSpPr txBox="1">
            <a:spLocks noGrp="1"/>
          </p:cNvSpPr>
          <p:nvPr>
            <p:ph type="body" idx="9"/>
          </p:nvPr>
        </p:nvSpPr>
        <p:spPr>
          <a:xfrm>
            <a:off x="203000" y="413060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89" name="Google Shape;189;p30"/>
          <p:cNvSpPr txBox="1">
            <a:spLocks noGrp="1"/>
          </p:cNvSpPr>
          <p:nvPr>
            <p:ph type="body" idx="13"/>
          </p:nvPr>
        </p:nvSpPr>
        <p:spPr>
          <a:xfrm>
            <a:off x="3249600" y="891450"/>
            <a:ext cx="26448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90" name="Google Shape;190;p30"/>
          <p:cNvSpPr txBox="1">
            <a:spLocks noGrp="1"/>
          </p:cNvSpPr>
          <p:nvPr>
            <p:ph type="body" idx="14"/>
          </p:nvPr>
        </p:nvSpPr>
        <p:spPr>
          <a:xfrm>
            <a:off x="3249600" y="13204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91" name="Google Shape;191;p30"/>
          <p:cNvSpPr txBox="1">
            <a:spLocks noGrp="1"/>
          </p:cNvSpPr>
          <p:nvPr>
            <p:ph type="body" idx="15"/>
          </p:nvPr>
        </p:nvSpPr>
        <p:spPr>
          <a:xfrm>
            <a:off x="3249600" y="15886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92" name="Google Shape;192;p30"/>
          <p:cNvSpPr txBox="1">
            <a:spLocks noGrp="1"/>
          </p:cNvSpPr>
          <p:nvPr>
            <p:ph type="body" idx="16"/>
          </p:nvPr>
        </p:nvSpPr>
        <p:spPr>
          <a:xfrm>
            <a:off x="3249600" y="2206550"/>
            <a:ext cx="26448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93" name="Google Shape;193;p30"/>
          <p:cNvSpPr txBox="1">
            <a:spLocks noGrp="1"/>
          </p:cNvSpPr>
          <p:nvPr>
            <p:ph type="body" idx="17"/>
          </p:nvPr>
        </p:nvSpPr>
        <p:spPr>
          <a:xfrm>
            <a:off x="3249600" y="26355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94" name="Google Shape;194;p30"/>
          <p:cNvSpPr txBox="1">
            <a:spLocks noGrp="1"/>
          </p:cNvSpPr>
          <p:nvPr>
            <p:ph type="body" idx="18"/>
          </p:nvPr>
        </p:nvSpPr>
        <p:spPr>
          <a:xfrm>
            <a:off x="3249600" y="29037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95" name="Google Shape;195;p30"/>
          <p:cNvSpPr txBox="1">
            <a:spLocks noGrp="1"/>
          </p:cNvSpPr>
          <p:nvPr>
            <p:ph type="body" idx="19"/>
          </p:nvPr>
        </p:nvSpPr>
        <p:spPr>
          <a:xfrm>
            <a:off x="3249600" y="3433400"/>
            <a:ext cx="26448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96" name="Google Shape;196;p30"/>
          <p:cNvSpPr txBox="1">
            <a:spLocks noGrp="1"/>
          </p:cNvSpPr>
          <p:nvPr>
            <p:ph type="body" idx="20"/>
          </p:nvPr>
        </p:nvSpPr>
        <p:spPr>
          <a:xfrm>
            <a:off x="3249600" y="386240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97" name="Google Shape;197;p30"/>
          <p:cNvSpPr txBox="1">
            <a:spLocks noGrp="1"/>
          </p:cNvSpPr>
          <p:nvPr>
            <p:ph type="body" idx="21"/>
          </p:nvPr>
        </p:nvSpPr>
        <p:spPr>
          <a:xfrm>
            <a:off x="3249600" y="413060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98" name="Google Shape;198;p30"/>
          <p:cNvSpPr txBox="1">
            <a:spLocks noGrp="1"/>
          </p:cNvSpPr>
          <p:nvPr>
            <p:ph type="body" idx="22"/>
          </p:nvPr>
        </p:nvSpPr>
        <p:spPr>
          <a:xfrm>
            <a:off x="6296200" y="891450"/>
            <a:ext cx="26448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199" name="Google Shape;199;p30"/>
          <p:cNvSpPr txBox="1">
            <a:spLocks noGrp="1"/>
          </p:cNvSpPr>
          <p:nvPr>
            <p:ph type="body" idx="23"/>
          </p:nvPr>
        </p:nvSpPr>
        <p:spPr>
          <a:xfrm>
            <a:off x="6296200" y="13204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200" name="Google Shape;200;p30"/>
          <p:cNvSpPr txBox="1">
            <a:spLocks noGrp="1"/>
          </p:cNvSpPr>
          <p:nvPr>
            <p:ph type="body" idx="24"/>
          </p:nvPr>
        </p:nvSpPr>
        <p:spPr>
          <a:xfrm>
            <a:off x="6296200" y="15886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201" name="Google Shape;201;p30"/>
          <p:cNvSpPr txBox="1">
            <a:spLocks noGrp="1"/>
          </p:cNvSpPr>
          <p:nvPr>
            <p:ph type="body" idx="25"/>
          </p:nvPr>
        </p:nvSpPr>
        <p:spPr>
          <a:xfrm>
            <a:off x="6296200" y="2206550"/>
            <a:ext cx="26448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202" name="Google Shape;202;p30"/>
          <p:cNvSpPr txBox="1">
            <a:spLocks noGrp="1"/>
          </p:cNvSpPr>
          <p:nvPr>
            <p:ph type="body" idx="26"/>
          </p:nvPr>
        </p:nvSpPr>
        <p:spPr>
          <a:xfrm>
            <a:off x="6296200" y="26355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203" name="Google Shape;203;p30"/>
          <p:cNvSpPr txBox="1">
            <a:spLocks noGrp="1"/>
          </p:cNvSpPr>
          <p:nvPr>
            <p:ph type="body" idx="27"/>
          </p:nvPr>
        </p:nvSpPr>
        <p:spPr>
          <a:xfrm>
            <a:off x="6296200" y="290375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204" name="Google Shape;204;p30"/>
          <p:cNvSpPr txBox="1">
            <a:spLocks noGrp="1"/>
          </p:cNvSpPr>
          <p:nvPr>
            <p:ph type="body" idx="28"/>
          </p:nvPr>
        </p:nvSpPr>
        <p:spPr>
          <a:xfrm>
            <a:off x="6296200" y="3433400"/>
            <a:ext cx="2644800" cy="42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205" name="Google Shape;205;p30"/>
          <p:cNvSpPr txBox="1">
            <a:spLocks noGrp="1"/>
          </p:cNvSpPr>
          <p:nvPr>
            <p:ph type="body" idx="29"/>
          </p:nvPr>
        </p:nvSpPr>
        <p:spPr>
          <a:xfrm>
            <a:off x="6296200" y="386240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Char char="●"/>
              <a:defRPr/>
            </a:lvl1pPr>
            <a:lvl2pPr marL="914400" lvl="1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●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○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3429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DM Sans Medium"/>
              <a:buChar char="■"/>
              <a:defRPr sz="1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206" name="Google Shape;206;p30"/>
          <p:cNvSpPr txBox="1">
            <a:spLocks noGrp="1"/>
          </p:cNvSpPr>
          <p:nvPr>
            <p:ph type="body" idx="30"/>
          </p:nvPr>
        </p:nvSpPr>
        <p:spPr>
          <a:xfrm>
            <a:off x="6296200" y="4130600"/>
            <a:ext cx="2644800" cy="26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>
                <a:latin typeface="DM Sans Medium"/>
                <a:ea typeface="DM Sans Medium"/>
                <a:cs typeface="DM Sans Medium"/>
                <a:sym typeface="DM Sans Medium"/>
              </a:defRPr>
            </a:lvl2pPr>
            <a:lvl3pPr marL="1371600" lvl="2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3pPr>
            <a:lvl4pPr marL="1828800" lvl="3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4pPr>
            <a:lvl5pPr marL="2286000" lvl="4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5pPr>
            <a:lvl6pPr marL="2743200" lvl="5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6pPr>
            <a:lvl7pPr marL="3200400" lvl="6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●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7pPr>
            <a:lvl8pPr marL="3657600" lvl="7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○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8pPr>
            <a:lvl9pPr marL="4114800" lvl="8" indent="-279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00"/>
              <a:buFont typeface="DM Sans Medium"/>
              <a:buChar char="■"/>
              <a:defRPr sz="800">
                <a:latin typeface="DM Sans Medium"/>
                <a:ea typeface="DM Sans Medium"/>
                <a:cs typeface="DM Sans Medium"/>
                <a:sym typeface="DM Sans Medium"/>
              </a:defRPr>
            </a:lvl9pPr>
          </a:lstStyle>
          <a:p>
            <a:endParaRPr/>
          </a:p>
        </p:txBody>
      </p:sp>
      <p:sp>
        <p:nvSpPr>
          <p:cNvPr id="207" name="Google Shape;207;p30"/>
          <p:cNvSpPr txBox="1">
            <a:spLocks noGrp="1"/>
          </p:cNvSpPr>
          <p:nvPr>
            <p:ph type="body" idx="31"/>
          </p:nvPr>
        </p:nvSpPr>
        <p:spPr>
          <a:xfrm>
            <a:off x="196951" y="196725"/>
            <a:ext cx="18606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>
            <a:endParaRPr/>
          </a:p>
        </p:txBody>
      </p:sp>
      <p:sp>
        <p:nvSpPr>
          <p:cNvPr id="208" name="Google Shape;208;p30"/>
          <p:cNvSpPr txBox="1">
            <a:spLocks noGrp="1"/>
          </p:cNvSpPr>
          <p:nvPr>
            <p:ph type="body" idx="32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 algn="r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1pPr>
            <a:lvl2pPr marL="914400" lvl="1" indent="-279400" algn="r">
              <a:spcBef>
                <a:spcPts val="0"/>
              </a:spcBef>
              <a:spcAft>
                <a:spcPts val="0"/>
              </a:spcAft>
              <a:buSzPts val="800"/>
              <a:buChar char="○"/>
              <a:defRPr/>
            </a:lvl2pPr>
            <a:lvl3pPr marL="1371600" lvl="2" indent="-279400" algn="r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3pPr>
            <a:lvl4pPr marL="1828800" lvl="3" indent="-279400" algn="r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4pPr>
            <a:lvl5pPr marL="2286000" lvl="4" indent="-279400" algn="r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5pPr>
            <a:lvl6pPr marL="2743200" lvl="5" indent="-279400" algn="r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6pPr>
            <a:lvl7pPr marL="3200400" lvl="6" indent="-279400" algn="r">
              <a:spcBef>
                <a:spcPts val="0"/>
              </a:spcBef>
              <a:spcAft>
                <a:spcPts val="0"/>
              </a:spcAft>
              <a:buSzPts val="800"/>
              <a:buChar char="●"/>
              <a:defRPr sz="800"/>
            </a:lvl7pPr>
            <a:lvl8pPr marL="3657600" lvl="7" indent="-279400" algn="r">
              <a:spcBef>
                <a:spcPts val="0"/>
              </a:spcBef>
              <a:spcAft>
                <a:spcPts val="0"/>
              </a:spcAft>
              <a:buSzPts val="800"/>
              <a:buChar char="○"/>
              <a:defRPr sz="800"/>
            </a:lvl8pPr>
            <a:lvl9pPr marL="4114800" lvl="8" indent="-279400" algn="r">
              <a:spcBef>
                <a:spcPts val="0"/>
              </a:spcBef>
              <a:spcAft>
                <a:spcPts val="0"/>
              </a:spcAft>
              <a:buSzPts val="800"/>
              <a:buChar char="■"/>
              <a:defRPr sz="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ustom blank">
  <p:cSld name="CUSTOM"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1" name="Google Shape;211;p31"/>
          <p:cNvSpPr txBox="1">
            <a:spLocks noGrp="1"/>
          </p:cNvSpPr>
          <p:nvPr>
            <p:ph type="body" idx="1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marL="914400" lvl="1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marL="1371600" lvl="2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marL="1828800" lvl="3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marL="2286000" lvl="4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marL="2743200" lvl="5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marL="3200400" lvl="6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marL="3657600" lvl="7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marL="4114800" lvl="8" indent="-279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2" name="Google Shape;212;p31"/>
          <p:cNvSpPr txBox="1">
            <a:spLocks noGrp="1"/>
          </p:cNvSpPr>
          <p:nvPr>
            <p:ph type="body" idx="2"/>
          </p:nvPr>
        </p:nvSpPr>
        <p:spPr>
          <a:xfrm>
            <a:off x="7087526" y="196725"/>
            <a:ext cx="19335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1pPr>
            <a:lvl2pPr marL="914400" lvl="1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>
                <a:solidFill>
                  <a:schemeClr val="dk1"/>
                </a:solidFill>
              </a:defRPr>
            </a:lvl2pPr>
            <a:lvl3pPr marL="1371600" lvl="2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3pPr>
            <a:lvl4pPr marL="1828800" lvl="3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4pPr>
            <a:lvl5pPr marL="2286000" lvl="4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5pPr>
            <a:lvl6pPr marL="2743200" lvl="5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6pPr>
            <a:lvl7pPr marL="3200400" lvl="6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●"/>
              <a:defRPr sz="800">
                <a:solidFill>
                  <a:schemeClr val="dk1"/>
                </a:solidFill>
              </a:defRPr>
            </a:lvl7pPr>
            <a:lvl8pPr marL="3657600" lvl="7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○"/>
              <a:defRPr sz="800">
                <a:solidFill>
                  <a:schemeClr val="dk1"/>
                </a:solidFill>
              </a:defRPr>
            </a:lvl8pPr>
            <a:lvl9pPr marL="4114800" lvl="8" indent="-279400" algn="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Char char="■"/>
              <a:defRPr sz="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>
            <a:alpha val="0"/>
          </a:scheme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sz="3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sz="3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sz="3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sz="3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sz="3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sz="3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sz="3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sz="3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50"/>
              <a:buFont typeface="Merriweather"/>
              <a:buNone/>
              <a:defRPr sz="3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17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●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lvl="1" indent="-279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800"/>
              <a:buFont typeface="DM Sans"/>
              <a:buChar char="○"/>
              <a:defRPr sz="8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lvl="2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■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lvl="3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●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lvl="4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○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lvl="5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■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lvl="6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●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lvl="7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○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lvl="8" indent="-2921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DM Sans"/>
              <a:buChar char="■"/>
              <a:defRPr sz="1000">
                <a:solidFill>
                  <a:schemeClr val="dk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8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6" r:id="rId27"/>
    <p:sldLayoutId id="2147483677" r:id="rId28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24">
          <p15:clr>
            <a:srgbClr val="E46962"/>
          </p15:clr>
        </p15:guide>
        <p15:guide id="2" orient="horz" pos="124">
          <p15:clr>
            <a:srgbClr val="E46962"/>
          </p15:clr>
        </p15:guide>
        <p15:guide id="3" pos="5636">
          <p15:clr>
            <a:srgbClr val="E46962"/>
          </p15:clr>
        </p15:guide>
        <p15:guide id="4" orient="horz" pos="3116">
          <p15:clr>
            <a:srgbClr val="E46962"/>
          </p15:clr>
        </p15:guide>
        <p15:guide id="5" pos="1296">
          <p15:clr>
            <a:srgbClr val="E46962"/>
          </p15:clr>
        </p15:guide>
        <p15:guide id="6" pos="4465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2"/>
          <p:cNvSpPr txBox="1">
            <a:spLocks noGrp="1"/>
          </p:cNvSpPr>
          <p:nvPr>
            <p:ph type="body" idx="4"/>
          </p:nvPr>
        </p:nvSpPr>
        <p:spPr>
          <a:xfrm>
            <a:off x="8208751" y="196725"/>
            <a:ext cx="8124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04.21.2025</a:t>
            </a:r>
            <a:endParaRPr/>
          </a:p>
        </p:txBody>
      </p:sp>
      <p:sp>
        <p:nvSpPr>
          <p:cNvPr id="218" name="Google Shape;218;p32"/>
          <p:cNvSpPr txBox="1">
            <a:spLocks noGrp="1"/>
          </p:cNvSpPr>
          <p:nvPr>
            <p:ph type="ctrTitle"/>
          </p:nvPr>
        </p:nvSpPr>
        <p:spPr>
          <a:xfrm>
            <a:off x="196950" y="405825"/>
            <a:ext cx="8750100" cy="187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DiabetaRec</a:t>
            </a:r>
            <a:endParaRPr dirty="0"/>
          </a:p>
        </p:txBody>
      </p:sp>
      <p:sp>
        <p:nvSpPr>
          <p:cNvPr id="219" name="Google Shape;219;p32"/>
          <p:cNvSpPr txBox="1">
            <a:spLocks noGrp="1"/>
          </p:cNvSpPr>
          <p:nvPr>
            <p:ph type="subTitle" idx="2"/>
          </p:nvPr>
        </p:nvSpPr>
        <p:spPr>
          <a:xfrm>
            <a:off x="197375" y="1441575"/>
            <a:ext cx="8198100" cy="55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 Personalized, Diabetes-Aware Recipe Recommendation System using Machine Learning and Generative AI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220" name="Google Shape;220;p32"/>
          <p:cNvSpPr txBox="1">
            <a:spLocks noGrp="1"/>
          </p:cNvSpPr>
          <p:nvPr>
            <p:ph type="body" idx="1"/>
          </p:nvPr>
        </p:nvSpPr>
        <p:spPr>
          <a:xfrm>
            <a:off x="196950" y="4391250"/>
            <a:ext cx="2554800" cy="55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CSYE 7380 - Theory &amp; Prac App AI Gen Model College of Engineering, Northeastern University 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Jiaxian Li, Yiwen Kang</a:t>
            </a:r>
            <a:endParaRPr/>
          </a:p>
        </p:txBody>
      </p:sp>
      <p:pic>
        <p:nvPicPr>
          <p:cNvPr id="221" name="Google Shape;221;p32" descr="Blue and green wave pattern. "/>
          <p:cNvPicPr preferRelativeResize="0">
            <a:picLocks noGrp="1"/>
          </p:cNvPicPr>
          <p:nvPr>
            <p:ph type="pic" idx="3"/>
          </p:nvPr>
        </p:nvPicPr>
        <p:blipFill rotWithShape="1">
          <a:blip r:embed="rId3">
            <a:alphaModFix/>
          </a:blip>
          <a:srcRect t="797" b="797"/>
          <a:stretch/>
        </p:blipFill>
        <p:spPr>
          <a:xfrm>
            <a:off x="4437578" y="2171250"/>
            <a:ext cx="4509600" cy="2775600"/>
          </a:xfrm>
          <a:prstGeom prst="round2DiagRect">
            <a:avLst>
              <a:gd name="adj1" fmla="val 16667"/>
              <a:gd name="adj2" fmla="val 0"/>
            </a:avLst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227" name="Google Shape;227;p33"/>
          <p:cNvSpPr txBox="1">
            <a:spLocks noGrp="1"/>
          </p:cNvSpPr>
          <p:nvPr>
            <p:ph type="body" idx="1"/>
          </p:nvPr>
        </p:nvSpPr>
        <p:spPr>
          <a:xfrm>
            <a:off x="196951" y="196725"/>
            <a:ext cx="18603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228" name="Google Shape;228;p33"/>
          <p:cNvSpPr txBox="1">
            <a:spLocks noGrp="1"/>
          </p:cNvSpPr>
          <p:nvPr>
            <p:ph type="body" idx="2"/>
          </p:nvPr>
        </p:nvSpPr>
        <p:spPr>
          <a:xfrm>
            <a:off x="6513075" y="196725"/>
            <a:ext cx="25077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 dirty="0"/>
              <a:t>CSYE 7380 - Theory &amp; Prac App AI Gen Model College of Engineering, Northeastern University </a:t>
            </a:r>
            <a:endParaRPr dirty="0"/>
          </a:p>
        </p:txBody>
      </p:sp>
      <p:sp>
        <p:nvSpPr>
          <p:cNvPr id="229" name="Google Shape;229;p33"/>
          <p:cNvSpPr txBox="1"/>
          <p:nvPr/>
        </p:nvSpPr>
        <p:spPr>
          <a:xfrm>
            <a:off x="516423" y="744800"/>
            <a:ext cx="83010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Problem Understanding and Definition</a:t>
            </a:r>
            <a:endParaRPr sz="22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30" name="Google Shape;230;p33"/>
          <p:cNvSpPr txBox="1"/>
          <p:nvPr/>
        </p:nvSpPr>
        <p:spPr>
          <a:xfrm>
            <a:off x="516437" y="1584311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Model/Framework Selection &amp; Implementation</a:t>
            </a:r>
            <a:endParaRPr sz="22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31" name="Google Shape;231;p33"/>
          <p:cNvSpPr txBox="1"/>
          <p:nvPr/>
        </p:nvSpPr>
        <p:spPr>
          <a:xfrm>
            <a:off x="516437" y="2423794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Model Interpretation</a:t>
            </a:r>
            <a:endParaRPr sz="22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32" name="Google Shape;232;p33"/>
          <p:cNvSpPr txBox="1"/>
          <p:nvPr/>
        </p:nvSpPr>
        <p:spPr>
          <a:xfrm>
            <a:off x="516437" y="3256495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22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Creativity and Innovation</a:t>
            </a:r>
            <a:endParaRPr sz="22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33" name="Google Shape;233;p33"/>
          <p:cNvSpPr txBox="1"/>
          <p:nvPr/>
        </p:nvSpPr>
        <p:spPr>
          <a:xfrm>
            <a:off x="196954" y="816789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1.</a:t>
            </a:r>
            <a:endParaRPr sz="14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34" name="Google Shape;234;p33"/>
          <p:cNvSpPr txBox="1"/>
          <p:nvPr/>
        </p:nvSpPr>
        <p:spPr>
          <a:xfrm>
            <a:off x="196954" y="1656311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2.</a:t>
            </a:r>
            <a:endParaRPr sz="14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35" name="Google Shape;235;p33"/>
          <p:cNvSpPr txBox="1"/>
          <p:nvPr/>
        </p:nvSpPr>
        <p:spPr>
          <a:xfrm>
            <a:off x="196954" y="2495794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3.</a:t>
            </a:r>
            <a:endParaRPr sz="14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36" name="Google Shape;236;p33"/>
          <p:cNvSpPr txBox="1"/>
          <p:nvPr/>
        </p:nvSpPr>
        <p:spPr>
          <a:xfrm>
            <a:off x="196954" y="3328495"/>
            <a:ext cx="391800" cy="3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4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4.</a:t>
            </a:r>
            <a:endParaRPr sz="14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42" name="Google Shape;242;p34"/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CSYE 7380 - Theory &amp; Prac App AI Gen Model College of Engineering, Northeastern University </a:t>
            </a:r>
            <a:endParaRPr/>
          </a:p>
        </p:txBody>
      </p:sp>
      <p:sp>
        <p:nvSpPr>
          <p:cNvPr id="243" name="Google Shape;243;p34"/>
          <p:cNvSpPr txBox="1"/>
          <p:nvPr/>
        </p:nvSpPr>
        <p:spPr>
          <a:xfrm>
            <a:off x="516437" y="7447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Problem Understanding and Definition</a:t>
            </a:r>
            <a:endParaRPr sz="36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44" name="Google Shape;244;p34"/>
          <p:cNvSpPr txBox="1"/>
          <p:nvPr/>
        </p:nvSpPr>
        <p:spPr>
          <a:xfrm>
            <a:off x="516425" y="1370275"/>
            <a:ext cx="6790500" cy="27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>
                <a:solidFill>
                  <a:schemeClr val="hlink"/>
                </a:solidFill>
              </a:rPr>
              <a:t>🔹 Problem Statement</a:t>
            </a:r>
            <a:endParaRPr sz="1300" b="1">
              <a:solidFill>
                <a:schemeClr val="hlink"/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b="1">
                <a:solidFill>
                  <a:schemeClr val="hlink"/>
                </a:solidFill>
              </a:rPr>
              <a:t>Diabetes requires personalized dietary planning</a:t>
            </a:r>
            <a:endParaRPr sz="1100" b="1">
              <a:solidFill>
                <a:schemeClr val="hlink"/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b="1">
                <a:solidFill>
                  <a:schemeClr val="hlink"/>
                </a:solidFill>
              </a:rPr>
              <a:t>Existing systems lack health-aware, preference-driven recommendations</a:t>
            </a:r>
            <a:endParaRPr sz="1100" b="1">
              <a:solidFill>
                <a:schemeClr val="hlink"/>
              </a:solidFill>
            </a:endParaRPr>
          </a:p>
          <a:p>
            <a:pPr marL="457200" marR="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b="1">
                <a:solidFill>
                  <a:schemeClr val="hlink"/>
                </a:solidFill>
              </a:rPr>
              <a:t>Goal: Predict diabetes risk and recommend recipes accordingly</a:t>
            </a:r>
            <a:endParaRPr sz="1000">
              <a:solidFill>
                <a:schemeClr val="dk2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000">
              <a:solidFill>
                <a:schemeClr val="dk2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>
                <a:solidFill>
                  <a:schemeClr val="hlink"/>
                </a:solidFill>
              </a:rPr>
              <a:t>🔹 Approach Overview</a:t>
            </a:r>
            <a:endParaRPr sz="1300" b="1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b="1">
                <a:solidFill>
                  <a:schemeClr val="hlink"/>
                </a:solidFill>
              </a:rPr>
              <a:t>Supervised ML</a:t>
            </a:r>
            <a:r>
              <a:rPr lang="en" sz="1100">
                <a:solidFill>
                  <a:schemeClr val="hlink"/>
                </a:solidFill>
              </a:rPr>
              <a:t> predicts diabetes from structured health data</a:t>
            </a:r>
            <a:endParaRPr sz="110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b="1">
                <a:solidFill>
                  <a:schemeClr val="hlink"/>
                </a:solidFill>
              </a:rPr>
              <a:t>LLM + MCP</a:t>
            </a:r>
            <a:r>
              <a:rPr lang="en" sz="1100">
                <a:solidFill>
                  <a:schemeClr val="hlink"/>
                </a:solidFill>
              </a:rPr>
              <a:t> extracts user food preferences from natural language</a:t>
            </a:r>
            <a:endParaRPr sz="1000">
              <a:solidFill>
                <a:schemeClr val="dk2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250" name="Google Shape;250;p35"/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CSYE 7380 - Theory &amp; Prac App AI Gen Model College of Engineering, Northeastern University </a:t>
            </a:r>
            <a:endParaRPr/>
          </a:p>
        </p:txBody>
      </p:sp>
      <p:sp>
        <p:nvSpPr>
          <p:cNvPr id="251" name="Google Shape;251;p35"/>
          <p:cNvSpPr txBox="1"/>
          <p:nvPr/>
        </p:nvSpPr>
        <p:spPr>
          <a:xfrm>
            <a:off x="516437" y="7447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Problem Understanding and Definition</a:t>
            </a:r>
            <a:endParaRPr sz="36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52" name="Google Shape;252;p35"/>
          <p:cNvSpPr txBox="1"/>
          <p:nvPr/>
        </p:nvSpPr>
        <p:spPr>
          <a:xfrm>
            <a:off x="516425" y="1370275"/>
            <a:ext cx="6790500" cy="27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>
                <a:solidFill>
                  <a:schemeClr val="hlink"/>
                </a:solidFill>
              </a:rPr>
              <a:t>🔹 Target Variable</a:t>
            </a:r>
            <a:endParaRPr sz="1300" b="1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b="1">
                <a:solidFill>
                  <a:schemeClr val="hlink"/>
                </a:solidFill>
              </a:rPr>
              <a:t>Diabetes status：</a:t>
            </a:r>
            <a:r>
              <a:rPr lang="en" sz="1100">
                <a:solidFill>
                  <a:schemeClr val="hlink"/>
                </a:solidFill>
              </a:rPr>
              <a:t>Binary classification: 0 = non-diabetic, 1 = diabetic</a:t>
            </a:r>
            <a:endParaRPr sz="110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b="1">
                <a:solidFill>
                  <a:schemeClr val="hlink"/>
                </a:solidFill>
              </a:rPr>
              <a:t>food preference scores：</a:t>
            </a:r>
            <a:r>
              <a:rPr lang="en" sz="1100">
                <a:solidFill>
                  <a:schemeClr val="hlink"/>
                </a:solidFill>
              </a:rPr>
              <a:t> (per category, range: –5 to +5)</a:t>
            </a:r>
            <a:endParaRPr sz="1100">
              <a:solidFill>
                <a:schemeClr val="hlink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>
                <a:solidFill>
                  <a:schemeClr val="hlink"/>
                </a:solidFill>
              </a:rPr>
              <a:t>🔹 Key Features</a:t>
            </a:r>
            <a:endParaRPr sz="1300" b="1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>
                <a:solidFill>
                  <a:schemeClr val="hlink"/>
                </a:solidFill>
              </a:rPr>
              <a:t>Health data: Glucose, BMI, Age, Pregnancies</a:t>
            </a:r>
            <a:endParaRPr sz="110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>
                <a:solidFill>
                  <a:schemeClr val="hlink"/>
                </a:solidFill>
              </a:rPr>
              <a:t>User intent: Processed via MCP to get structured food preference scores</a:t>
            </a:r>
            <a:endParaRPr sz="1100">
              <a:solidFill>
                <a:schemeClr val="hlink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>
                <a:solidFill>
                  <a:schemeClr val="hlink"/>
                </a:solidFill>
              </a:rPr>
              <a:t>🔹 Framing</a:t>
            </a:r>
            <a:endParaRPr sz="1300" b="1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b="1">
                <a:solidFill>
                  <a:schemeClr val="hlink"/>
                </a:solidFill>
              </a:rPr>
              <a:t>Supervised Learning</a:t>
            </a:r>
            <a:r>
              <a:rPr lang="en" sz="1100">
                <a:solidFill>
                  <a:schemeClr val="hlink"/>
                </a:solidFill>
              </a:rPr>
              <a:t> for prediction</a:t>
            </a:r>
            <a:endParaRPr sz="110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b="1">
                <a:solidFill>
                  <a:schemeClr val="hlink"/>
                </a:solidFill>
              </a:rPr>
              <a:t>Prompt Engineering with MCP</a:t>
            </a:r>
            <a:r>
              <a:rPr lang="en" sz="1100">
                <a:solidFill>
                  <a:schemeClr val="hlink"/>
                </a:solidFill>
              </a:rPr>
              <a:t> for user input parsing and response generation</a:t>
            </a:r>
            <a:endParaRPr sz="1300" b="1">
              <a:solidFill>
                <a:schemeClr val="hlink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58" name="Google Shape;258;p36"/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 dirty="0"/>
              <a:t>CSYE 7380 - Theory &amp; Prac App AI Gen Model College of Engineering, Northeastern University </a:t>
            </a:r>
            <a:endParaRPr dirty="0"/>
          </a:p>
        </p:txBody>
      </p:sp>
      <p:sp>
        <p:nvSpPr>
          <p:cNvPr id="259" name="Google Shape;259;p36"/>
          <p:cNvSpPr txBox="1"/>
          <p:nvPr/>
        </p:nvSpPr>
        <p:spPr>
          <a:xfrm>
            <a:off x="516437" y="7447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Model/Framework Selection &amp; Implementation</a:t>
            </a:r>
            <a:endParaRPr sz="36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60" name="Google Shape;260;p36"/>
          <p:cNvSpPr txBox="1"/>
          <p:nvPr/>
        </p:nvSpPr>
        <p:spPr>
          <a:xfrm>
            <a:off x="516425" y="1370275"/>
            <a:ext cx="6790500" cy="27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>
                <a:solidFill>
                  <a:schemeClr val="hlink"/>
                </a:solidFill>
              </a:rPr>
              <a:t>🔹 ML Pipeline for Diabetes Prediction</a:t>
            </a:r>
            <a:endParaRPr sz="1300" b="1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>
                <a:solidFill>
                  <a:schemeClr val="hlink"/>
                </a:solidFill>
              </a:rPr>
              <a:t>Models: SVM, RF, MLP, Logistic, etc.</a:t>
            </a:r>
            <a:br>
              <a:rPr lang="en" sz="1100">
                <a:solidFill>
                  <a:schemeClr val="hlink"/>
                </a:solidFill>
              </a:rPr>
            </a:br>
            <a:endParaRPr sz="110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>
                <a:solidFill>
                  <a:schemeClr val="hlink"/>
                </a:solidFill>
              </a:rPr>
              <a:t>Ensemble via soft voting + stacking</a:t>
            </a:r>
            <a:br>
              <a:rPr lang="en" sz="1100">
                <a:solidFill>
                  <a:schemeClr val="hlink"/>
                </a:solidFill>
              </a:rPr>
            </a:br>
            <a:endParaRPr sz="110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>
                <a:solidFill>
                  <a:schemeClr val="hlink"/>
                </a:solidFill>
              </a:rPr>
              <a:t>SMOTE for class balancing</a:t>
            </a:r>
            <a:endParaRPr sz="1100">
              <a:solidFill>
                <a:schemeClr val="hlink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300" b="1">
              <a:solidFill>
                <a:schemeClr val="hlink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56">
          <a:extLst>
            <a:ext uri="{FF2B5EF4-FFF2-40B4-BE49-F238E27FC236}">
              <a16:creationId xmlns:a16="http://schemas.microsoft.com/office/drawing/2014/main" id="{0EA58DA1-F396-E52D-7D11-B4D5BAC82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6">
            <a:extLst>
              <a:ext uri="{FF2B5EF4-FFF2-40B4-BE49-F238E27FC236}">
                <a16:creationId xmlns:a16="http://schemas.microsoft.com/office/drawing/2014/main" id="{C6241B2A-2DDE-FEF6-3C92-C53D98D6798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 dirty="0"/>
              <a:t>CSYE 7380 - Theory &amp; Prac App AI Gen Model College of Engineering, Northeastern University </a:t>
            </a:r>
            <a:endParaRPr dirty="0"/>
          </a:p>
        </p:txBody>
      </p:sp>
      <p:sp>
        <p:nvSpPr>
          <p:cNvPr id="2" name="Google Shape;266;p37">
            <a:extLst>
              <a:ext uri="{FF2B5EF4-FFF2-40B4-BE49-F238E27FC236}">
                <a16:creationId xmlns:a16="http://schemas.microsoft.com/office/drawing/2014/main" id="{CBDC0BE0-CA79-9686-4219-0B606D18B536}"/>
              </a:ext>
            </a:extLst>
          </p:cNvPr>
          <p:cNvSpPr txBox="1">
            <a:spLocks/>
          </p:cNvSpPr>
          <p:nvPr/>
        </p:nvSpPr>
        <p:spPr>
          <a:xfrm>
            <a:off x="334256" y="11218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34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Ensemble via soft voting + stacking</a:t>
            </a:r>
          </a:p>
        </p:txBody>
      </p:sp>
      <p:sp>
        <p:nvSpPr>
          <p:cNvPr id="3" name="Google Shape;267;p37">
            <a:extLst>
              <a:ext uri="{FF2B5EF4-FFF2-40B4-BE49-F238E27FC236}">
                <a16:creationId xmlns:a16="http://schemas.microsoft.com/office/drawing/2014/main" id="{07BB110E-9C70-EE7B-E64A-2D71914D94B6}"/>
              </a:ext>
            </a:extLst>
          </p:cNvPr>
          <p:cNvSpPr txBox="1">
            <a:spLocks/>
          </p:cNvSpPr>
          <p:nvPr/>
        </p:nvSpPr>
        <p:spPr>
          <a:xfrm>
            <a:off x="334256" y="2733331"/>
            <a:ext cx="3837000" cy="1671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794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DM Sans"/>
              <a:buChar char="●"/>
              <a:defRPr sz="8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marL="914400" marR="0" lvl="1" indent="-2794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DM Sans"/>
              <a:buChar char="○"/>
              <a:defRPr sz="8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2794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DM Sans"/>
              <a:buChar char="■"/>
              <a:defRPr sz="8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2794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DM Sans"/>
              <a:buChar char="●"/>
              <a:defRPr sz="8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2794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DM Sans"/>
              <a:buChar char="○"/>
              <a:defRPr sz="8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2794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DM Sans"/>
              <a:buChar char="■"/>
              <a:defRPr sz="8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2794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DM Sans"/>
              <a:buChar char="●"/>
              <a:defRPr sz="8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2794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DM Sans"/>
              <a:buChar char="○"/>
              <a:defRPr sz="8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279400" algn="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DM Sans"/>
              <a:buChar char="■"/>
              <a:defRPr sz="800" b="0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 algn="l">
              <a:spcAft>
                <a:spcPts val="1200"/>
              </a:spcAft>
              <a:buClr>
                <a:schemeClr val="accent3"/>
              </a:buClr>
              <a:buSzPts val="1100"/>
              <a:buFont typeface="Arial"/>
              <a:buNone/>
            </a:pPr>
            <a:r>
              <a:rPr lang="en-US" sz="1600">
                <a:solidFill>
                  <a:schemeClr val="hlink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Ensemble models outperform single classifiers in AUC and AUPR, providing more reliable predictions.</a:t>
            </a:r>
            <a:endParaRPr lang="en-US" sz="1100" dirty="0"/>
          </a:p>
        </p:txBody>
      </p:sp>
      <p:sp>
        <p:nvSpPr>
          <p:cNvPr id="4" name="Google Shape;265;p37">
            <a:extLst>
              <a:ext uri="{FF2B5EF4-FFF2-40B4-BE49-F238E27FC236}">
                <a16:creationId xmlns:a16="http://schemas.microsoft.com/office/drawing/2014/main" id="{2D26676D-FF55-2F0C-DD3C-B4D31A23893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pic>
        <p:nvPicPr>
          <p:cNvPr id="5" name="Google Shape;269;p37">
            <a:extLst>
              <a:ext uri="{FF2B5EF4-FFF2-40B4-BE49-F238E27FC236}">
                <a16:creationId xmlns:a16="http://schemas.microsoft.com/office/drawing/2014/main" id="{DD0DF778-60C6-96D6-BFAF-5AD863EB6C0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0436" y="1271910"/>
            <a:ext cx="4574000" cy="266583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66907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56">
          <a:extLst>
            <a:ext uri="{FF2B5EF4-FFF2-40B4-BE49-F238E27FC236}">
              <a16:creationId xmlns:a16="http://schemas.microsoft.com/office/drawing/2014/main" id="{F33EFBC6-4324-77A6-C6A6-6A8EF71065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6">
            <a:extLst>
              <a:ext uri="{FF2B5EF4-FFF2-40B4-BE49-F238E27FC236}">
                <a16:creationId xmlns:a16="http://schemas.microsoft.com/office/drawing/2014/main" id="{9E4BF3B0-7C0F-3FCF-0413-0D3DC71CE79E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 dirty="0"/>
              <a:t>CSYE 7380 - Theory &amp; Prac App AI Gen Model College of Engineering, Northeastern University </a:t>
            </a:r>
            <a:endParaRPr dirty="0"/>
          </a:p>
        </p:txBody>
      </p:sp>
      <p:sp>
        <p:nvSpPr>
          <p:cNvPr id="4" name="Google Shape;265;p37">
            <a:extLst>
              <a:ext uri="{FF2B5EF4-FFF2-40B4-BE49-F238E27FC236}">
                <a16:creationId xmlns:a16="http://schemas.microsoft.com/office/drawing/2014/main" id="{5AED276C-BA49-B7BB-8C69-4359093548C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pic>
        <p:nvPicPr>
          <p:cNvPr id="6" name="Google Shape;278;p38">
            <a:extLst>
              <a:ext uri="{FF2B5EF4-FFF2-40B4-BE49-F238E27FC236}">
                <a16:creationId xmlns:a16="http://schemas.microsoft.com/office/drawing/2014/main" id="{F86C7BC3-38C1-62EF-11F6-90C3956693B0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08490" y="1876225"/>
            <a:ext cx="4406824" cy="168930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275;p38">
            <a:extLst>
              <a:ext uri="{FF2B5EF4-FFF2-40B4-BE49-F238E27FC236}">
                <a16:creationId xmlns:a16="http://schemas.microsoft.com/office/drawing/2014/main" id="{7FF30E00-4359-E460-E08D-7370FE188D9B}"/>
              </a:ext>
            </a:extLst>
          </p:cNvPr>
          <p:cNvSpPr txBox="1">
            <a:spLocks/>
          </p:cNvSpPr>
          <p:nvPr/>
        </p:nvSpPr>
        <p:spPr>
          <a:xfrm>
            <a:off x="459935" y="678050"/>
            <a:ext cx="3510487" cy="1632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34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SMOTE for Class Balancing</a:t>
            </a:r>
          </a:p>
        </p:txBody>
      </p:sp>
      <p:sp>
        <p:nvSpPr>
          <p:cNvPr id="8" name="Google Shape;276;p38">
            <a:extLst>
              <a:ext uri="{FF2B5EF4-FFF2-40B4-BE49-F238E27FC236}">
                <a16:creationId xmlns:a16="http://schemas.microsoft.com/office/drawing/2014/main" id="{64D0C397-E00F-8D5D-9257-34DFCE8189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89572" y="2345325"/>
            <a:ext cx="3510486" cy="21185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hlink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SMOTE (Synthetic Minority Over-sampling Technique) helps balance the dataset by generating synthetic samples for the minority class, improving model performance on imbalanced data.</a:t>
            </a:r>
            <a:endParaRPr sz="1600" dirty="0">
              <a:solidFill>
                <a:schemeClr val="hlink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771918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284" name="Google Shape;284;p39"/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CSYE 7380 - Theory &amp; Prac App AI Gen Model College of Engineering, Northeastern University </a:t>
            </a:r>
            <a:endParaRPr/>
          </a:p>
        </p:txBody>
      </p:sp>
      <p:sp>
        <p:nvSpPr>
          <p:cNvPr id="285" name="Google Shape;285;p39"/>
          <p:cNvSpPr txBox="1"/>
          <p:nvPr/>
        </p:nvSpPr>
        <p:spPr>
          <a:xfrm>
            <a:off x="516437" y="744789"/>
            <a:ext cx="4337446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Model/Framework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Selection &amp; Implementation</a:t>
            </a:r>
            <a:endParaRPr sz="365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86" name="Google Shape;286;p39"/>
          <p:cNvSpPr txBox="1"/>
          <p:nvPr/>
        </p:nvSpPr>
        <p:spPr>
          <a:xfrm>
            <a:off x="516425" y="1370275"/>
            <a:ext cx="3918071" cy="27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chemeClr val="hlink"/>
                </a:solidFill>
              </a:rPr>
              <a:t>🔹 LLM for User Preference Extraction</a:t>
            </a:r>
            <a:endParaRPr sz="1300" b="1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GPT-based model parses natural language</a:t>
            </a:r>
            <a:br>
              <a:rPr lang="en" sz="1100" dirty="0">
                <a:solidFill>
                  <a:schemeClr val="hlink"/>
                </a:solidFill>
              </a:rPr>
            </a:b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b="1" dirty="0">
                <a:solidFill>
                  <a:schemeClr val="hlink"/>
                </a:solidFill>
              </a:rPr>
              <a:t>MCP</a:t>
            </a:r>
            <a:r>
              <a:rPr lang="en" sz="1100" dirty="0">
                <a:solidFill>
                  <a:schemeClr val="hlink"/>
                </a:solidFill>
              </a:rPr>
              <a:t> ensures structured, controllable output</a:t>
            </a:r>
            <a:br>
              <a:rPr lang="en" sz="1100" dirty="0">
                <a:solidFill>
                  <a:schemeClr val="hlink"/>
                </a:solidFill>
              </a:rPr>
            </a:b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Returns scores for 13 food categories (–5 to +5)</a:t>
            </a:r>
            <a:endParaRPr sz="1100" dirty="0">
              <a:solidFill>
                <a:schemeClr val="hlink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300" b="1" dirty="0">
              <a:solidFill>
                <a:schemeClr val="hlink"/>
              </a:solidFill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0202ED14-FAEA-7ED9-410A-3A9C31B53207}"/>
              </a:ext>
            </a:extLst>
          </p:cNvPr>
          <p:cNvSpPr/>
          <p:nvPr/>
        </p:nvSpPr>
        <p:spPr>
          <a:xfrm>
            <a:off x="6007033" y="520755"/>
            <a:ext cx="1339106" cy="252269"/>
          </a:xfrm>
          <a:prstGeom prst="roundRect">
            <a:avLst/>
          </a:prstGeom>
          <a:solidFill>
            <a:schemeClr val="tx1">
              <a:lumMod val="20000"/>
              <a:lumOff val="80000"/>
              <a:alpha val="13000"/>
            </a:schemeClr>
          </a:solidFill>
          <a:ln w="9525"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bg2"/>
                </a:solidFill>
              </a:rPr>
              <a:t>User Input (Text) </a:t>
            </a:r>
            <a:endParaRPr lang="zh-CN" altLang="en-US" sz="900" dirty="0">
              <a:solidFill>
                <a:schemeClr val="bg2"/>
              </a:solidFill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C4E39A2D-ACF4-2F8A-FB10-CBA2EED08459}"/>
              </a:ext>
            </a:extLst>
          </p:cNvPr>
          <p:cNvSpPr/>
          <p:nvPr/>
        </p:nvSpPr>
        <p:spPr>
          <a:xfrm>
            <a:off x="6007032" y="1035390"/>
            <a:ext cx="1339107" cy="252269"/>
          </a:xfrm>
          <a:prstGeom prst="roundRect">
            <a:avLst/>
          </a:prstGeom>
          <a:solidFill>
            <a:schemeClr val="tx1">
              <a:lumMod val="20000"/>
              <a:lumOff val="80000"/>
              <a:alpha val="13000"/>
            </a:schemeClr>
          </a:solidFill>
          <a:ln w="9525"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bg2"/>
                </a:solidFill>
              </a:rPr>
              <a:t> LLM + MCP Prompt </a:t>
            </a:r>
            <a:endParaRPr lang="zh-CN" altLang="en-US" sz="900" dirty="0">
              <a:solidFill>
                <a:schemeClr val="bg2"/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AFF6C01F-5D57-E7B8-E54A-9DDA320B6699}"/>
              </a:ext>
            </a:extLst>
          </p:cNvPr>
          <p:cNvSpPr/>
          <p:nvPr/>
        </p:nvSpPr>
        <p:spPr>
          <a:xfrm>
            <a:off x="6021254" y="1561241"/>
            <a:ext cx="1310665" cy="648853"/>
          </a:xfrm>
          <a:prstGeom prst="roundRect">
            <a:avLst/>
          </a:prstGeom>
          <a:solidFill>
            <a:schemeClr val="tx1">
              <a:lumMod val="20000"/>
              <a:lumOff val="80000"/>
              <a:alpha val="13000"/>
            </a:schemeClr>
          </a:solidFill>
          <a:ln w="9525"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900" dirty="0">
                <a:solidFill>
                  <a:schemeClr val="bg2"/>
                </a:solidFill>
              </a:rPr>
              <a:t> JSON output: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900" dirty="0" err="1">
                <a:solidFill>
                  <a:schemeClr val="bg2"/>
                </a:solidFill>
              </a:rPr>
              <a:t>category_scores</a:t>
            </a:r>
            <a:r>
              <a:rPr lang="en-US" altLang="zh-CN" sz="900" dirty="0">
                <a:solidFill>
                  <a:schemeClr val="bg2"/>
                </a:solidFill>
              </a:rPr>
              <a:t>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CN" sz="900" dirty="0">
                <a:solidFill>
                  <a:schemeClr val="bg2"/>
                </a:solidFill>
              </a:rPr>
              <a:t>reasoning </a:t>
            </a:r>
            <a:endParaRPr lang="zh-CN" altLang="en-US" sz="900" dirty="0">
              <a:solidFill>
                <a:schemeClr val="bg2"/>
              </a:solidFill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1F46FECD-0692-7F68-CF45-C11FCCF5F8E8}"/>
              </a:ext>
            </a:extLst>
          </p:cNvPr>
          <p:cNvSpPr/>
          <p:nvPr/>
        </p:nvSpPr>
        <p:spPr>
          <a:xfrm>
            <a:off x="5527488" y="2692224"/>
            <a:ext cx="2298198" cy="715169"/>
          </a:xfrm>
          <a:prstGeom prst="roundRect">
            <a:avLst/>
          </a:prstGeom>
          <a:solidFill>
            <a:schemeClr val="tx1">
              <a:lumMod val="20000"/>
              <a:lumOff val="80000"/>
              <a:alpha val="13000"/>
            </a:schemeClr>
          </a:solidFill>
          <a:ln w="9525"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bg2"/>
                </a:solidFill>
              </a:rPr>
              <a:t> Weighted Recipe Scoring (from CSV)</a:t>
            </a:r>
          </a:p>
          <a:p>
            <a:pPr algn="ctr"/>
            <a:r>
              <a:rPr lang="en-US" altLang="zh-CN" sz="900" dirty="0">
                <a:solidFill>
                  <a:schemeClr val="bg2"/>
                </a:solidFill>
              </a:rPr>
              <a:t>Uses </a:t>
            </a:r>
            <a:r>
              <a:rPr lang="en-US" altLang="zh-CN" sz="900" dirty="0" err="1">
                <a:solidFill>
                  <a:schemeClr val="bg2"/>
                </a:solidFill>
              </a:rPr>
              <a:t>diabetic_friendly</a:t>
            </a:r>
            <a:r>
              <a:rPr lang="en-US" altLang="zh-CN" sz="900" dirty="0">
                <a:solidFill>
                  <a:schemeClr val="bg2"/>
                </a:solidFill>
              </a:rPr>
              <a:t>, </a:t>
            </a:r>
            <a:r>
              <a:rPr lang="en-US" altLang="zh-CN" sz="900" dirty="0" err="1">
                <a:solidFill>
                  <a:schemeClr val="bg2"/>
                </a:solidFill>
              </a:rPr>
              <a:t>category_scores</a:t>
            </a:r>
            <a:endParaRPr lang="zh-CN" altLang="en-US" sz="900" dirty="0">
              <a:solidFill>
                <a:schemeClr val="bg2"/>
              </a:solidFill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4D6BED51-A88E-B222-0150-A274C651BB45}"/>
              </a:ext>
            </a:extLst>
          </p:cNvPr>
          <p:cNvSpPr/>
          <p:nvPr/>
        </p:nvSpPr>
        <p:spPr>
          <a:xfrm>
            <a:off x="5814527" y="3702289"/>
            <a:ext cx="1724120" cy="292196"/>
          </a:xfrm>
          <a:prstGeom prst="roundRect">
            <a:avLst/>
          </a:prstGeom>
          <a:solidFill>
            <a:schemeClr val="tx1">
              <a:lumMod val="20000"/>
              <a:lumOff val="80000"/>
              <a:alpha val="13000"/>
            </a:schemeClr>
          </a:solidFill>
          <a:ln w="9525"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solidFill>
                  <a:schemeClr val="bg2"/>
                </a:solidFill>
              </a:rPr>
              <a:t>Top Recipes (suitable / not)</a:t>
            </a:r>
            <a:endParaRPr lang="zh-CN" altLang="en-US" sz="900" dirty="0">
              <a:solidFill>
                <a:schemeClr val="bg2"/>
              </a:solidFill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CB9C245A-5346-8C1B-2D10-56F2163CFF38}"/>
              </a:ext>
            </a:extLst>
          </p:cNvPr>
          <p:cNvSpPr/>
          <p:nvPr/>
        </p:nvSpPr>
        <p:spPr>
          <a:xfrm>
            <a:off x="5814527" y="4243143"/>
            <a:ext cx="1724120" cy="529682"/>
          </a:xfrm>
          <a:prstGeom prst="roundRect">
            <a:avLst/>
          </a:prstGeom>
          <a:solidFill>
            <a:schemeClr val="tx1">
              <a:lumMod val="20000"/>
              <a:lumOff val="80000"/>
              <a:alpha val="13000"/>
            </a:schemeClr>
          </a:solidFill>
          <a:ln w="9525"/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CN" sz="900" dirty="0">
                <a:solidFill>
                  <a:schemeClr val="bg2"/>
                </a:solidFill>
              </a:rPr>
              <a:t>LLM: Final Recommendation </a:t>
            </a:r>
          </a:p>
          <a:p>
            <a:r>
              <a:rPr lang="en-US" altLang="zh-CN" sz="900" dirty="0">
                <a:solidFill>
                  <a:schemeClr val="bg2"/>
                </a:solidFill>
              </a:rPr>
              <a:t>Using MCP context &amp; recipe </a:t>
            </a:r>
            <a:endParaRPr lang="zh-CN" altLang="en-US" sz="900" dirty="0">
              <a:solidFill>
                <a:schemeClr val="bg2"/>
              </a:solidFill>
            </a:endParaRPr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E2A5FAC4-E413-314E-CFD8-11D267A5BAAD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676586" y="773024"/>
            <a:ext cx="0" cy="262366"/>
          </a:xfrm>
          <a:prstGeom prst="straightConnector1">
            <a:avLst/>
          </a:prstGeom>
          <a:ln w="127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DF491824-AAFD-344E-83E8-61D0A7E5CE43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6676586" y="1287659"/>
            <a:ext cx="1" cy="273582"/>
          </a:xfrm>
          <a:prstGeom prst="straightConnector1">
            <a:avLst/>
          </a:prstGeom>
          <a:ln w="127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F02DAFE5-AD3F-62CB-122C-29B4FE145004}"/>
              </a:ext>
            </a:extLst>
          </p:cNvPr>
          <p:cNvCxnSpPr>
            <a:stCxn id="6" idx="2"/>
            <a:endCxn id="7" idx="0"/>
          </p:cNvCxnSpPr>
          <p:nvPr/>
        </p:nvCxnSpPr>
        <p:spPr>
          <a:xfrm>
            <a:off x="6676587" y="2210094"/>
            <a:ext cx="0" cy="482130"/>
          </a:xfrm>
          <a:prstGeom prst="straightConnector1">
            <a:avLst/>
          </a:prstGeom>
          <a:ln w="127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D84982B9-1A95-1D4A-56FC-1B7B611D347B}"/>
              </a:ext>
            </a:extLst>
          </p:cNvPr>
          <p:cNvCxnSpPr>
            <a:stCxn id="7" idx="2"/>
            <a:endCxn id="8" idx="0"/>
          </p:cNvCxnSpPr>
          <p:nvPr/>
        </p:nvCxnSpPr>
        <p:spPr>
          <a:xfrm>
            <a:off x="6676587" y="3407393"/>
            <a:ext cx="0" cy="294896"/>
          </a:xfrm>
          <a:prstGeom prst="straightConnector1">
            <a:avLst/>
          </a:prstGeom>
          <a:ln w="127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箭头连接符 18">
            <a:extLst>
              <a:ext uri="{FF2B5EF4-FFF2-40B4-BE49-F238E27FC236}">
                <a16:creationId xmlns:a16="http://schemas.microsoft.com/office/drawing/2014/main" id="{432C4E51-29AF-CF77-670C-D3E9C2446656}"/>
              </a:ext>
            </a:extLst>
          </p:cNvPr>
          <p:cNvCxnSpPr>
            <a:stCxn id="8" idx="2"/>
            <a:endCxn id="9" idx="0"/>
          </p:cNvCxnSpPr>
          <p:nvPr/>
        </p:nvCxnSpPr>
        <p:spPr>
          <a:xfrm>
            <a:off x="6676587" y="3994485"/>
            <a:ext cx="0" cy="248658"/>
          </a:xfrm>
          <a:prstGeom prst="straightConnector1">
            <a:avLst/>
          </a:prstGeom>
          <a:ln w="12700">
            <a:solidFill>
              <a:schemeClr val="bg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文本框 19">
            <a:extLst>
              <a:ext uri="{FF2B5EF4-FFF2-40B4-BE49-F238E27FC236}">
                <a16:creationId xmlns:a16="http://schemas.microsoft.com/office/drawing/2014/main" id="{72162EA0-3AC7-AAC3-6ACE-F256ACEAEFD4}"/>
              </a:ext>
            </a:extLst>
          </p:cNvPr>
          <p:cNvSpPr txBox="1"/>
          <p:nvPr/>
        </p:nvSpPr>
        <p:spPr>
          <a:xfrm>
            <a:off x="6706749" y="2347875"/>
            <a:ext cx="121347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" dirty="0"/>
              <a:t>Input scores as weight</a:t>
            </a:r>
            <a:endParaRPr lang="zh-CN" alt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292" name="Google Shape;292;p40"/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CSYE 7380 - Theory &amp; Prac App AI Gen Model College of Engineering, Northeastern University </a:t>
            </a:r>
            <a:endParaRPr/>
          </a:p>
        </p:txBody>
      </p:sp>
      <p:sp>
        <p:nvSpPr>
          <p:cNvPr id="293" name="Google Shape;293;p40"/>
          <p:cNvSpPr txBox="1"/>
          <p:nvPr/>
        </p:nvSpPr>
        <p:spPr>
          <a:xfrm>
            <a:off x="516437" y="7447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Model/Framework Selection &amp; Implementation</a:t>
            </a:r>
            <a:endParaRPr sz="36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294" name="Google Shape;294;p40"/>
          <p:cNvSpPr txBox="1"/>
          <p:nvPr/>
        </p:nvSpPr>
        <p:spPr>
          <a:xfrm>
            <a:off x="516425" y="1370275"/>
            <a:ext cx="4014324" cy="1438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chemeClr val="hlink"/>
                </a:solidFill>
              </a:rPr>
              <a:t>🔹 Workflow Integration</a:t>
            </a:r>
            <a:endParaRPr sz="1300" b="1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ML prediction → preference scoring → recipe filtering</a:t>
            </a: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Joint decision logic for final recommendation</a:t>
            </a:r>
            <a:endParaRPr sz="1300" b="1" dirty="0">
              <a:solidFill>
                <a:schemeClr val="hlink"/>
              </a:solidFill>
            </a:endParaRPr>
          </a:p>
        </p:txBody>
      </p:sp>
      <p:sp>
        <p:nvSpPr>
          <p:cNvPr id="2" name="Google Shape;294;p40">
            <a:extLst>
              <a:ext uri="{FF2B5EF4-FFF2-40B4-BE49-F238E27FC236}">
                <a16:creationId xmlns:a16="http://schemas.microsoft.com/office/drawing/2014/main" id="{0575545E-A267-96AA-1C82-01D9149F9FA2}"/>
              </a:ext>
            </a:extLst>
          </p:cNvPr>
          <p:cNvSpPr txBox="1"/>
          <p:nvPr/>
        </p:nvSpPr>
        <p:spPr>
          <a:xfrm>
            <a:off x="4716377" y="1370275"/>
            <a:ext cx="3238215" cy="15249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chemeClr val="hlink"/>
                </a:solidFill>
              </a:rPr>
              <a:t>🔹 Programming Stack</a:t>
            </a:r>
            <a:endParaRPr sz="1300" b="1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Python, Scikit-learn, imbalanced-learn</a:t>
            </a: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OpenAI API for LLM</a:t>
            </a: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GUI built with Gradio</a:t>
            </a:r>
            <a:endParaRPr sz="1300" b="1" dirty="0">
              <a:solidFill>
                <a:schemeClr val="hlink"/>
              </a:solidFill>
            </a:endParaRPr>
          </a:p>
        </p:txBody>
      </p:sp>
      <p:sp>
        <p:nvSpPr>
          <p:cNvPr id="4" name="矩形: 圆角 3">
            <a:extLst>
              <a:ext uri="{FF2B5EF4-FFF2-40B4-BE49-F238E27FC236}">
                <a16:creationId xmlns:a16="http://schemas.microsoft.com/office/drawing/2014/main" id="{BAB7B016-D662-4DBF-83DC-D293DD0666CC}"/>
              </a:ext>
            </a:extLst>
          </p:cNvPr>
          <p:cNvSpPr/>
          <p:nvPr/>
        </p:nvSpPr>
        <p:spPr>
          <a:xfrm>
            <a:off x="579805" y="2988530"/>
            <a:ext cx="1226075" cy="288011"/>
          </a:xfrm>
          <a:prstGeom prst="round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bg2"/>
                </a:solidFill>
              </a:rPr>
              <a:t>User Input</a:t>
            </a:r>
            <a:endParaRPr lang="zh-CN" altLang="en-US" sz="1100" dirty="0">
              <a:solidFill>
                <a:schemeClr val="bg2"/>
              </a:solidFill>
            </a:endParaRP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0DCB8C76-3DC4-B871-FE69-B4E3A4D6F956}"/>
              </a:ext>
            </a:extLst>
          </p:cNvPr>
          <p:cNvSpPr/>
          <p:nvPr/>
        </p:nvSpPr>
        <p:spPr>
          <a:xfrm>
            <a:off x="4368110" y="2986355"/>
            <a:ext cx="1222639" cy="288011"/>
          </a:xfrm>
          <a:prstGeom prst="round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bg2"/>
                </a:solidFill>
              </a:rPr>
              <a:t>Parse </a:t>
            </a:r>
            <a:endParaRPr lang="zh-CN" altLang="en-US" sz="1100" dirty="0">
              <a:solidFill>
                <a:schemeClr val="bg2"/>
              </a:solidFill>
            </a:endParaRP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BDA80801-7D61-ECDC-A272-11174AA256AC}"/>
              </a:ext>
            </a:extLst>
          </p:cNvPr>
          <p:cNvSpPr/>
          <p:nvPr/>
        </p:nvSpPr>
        <p:spPr>
          <a:xfrm>
            <a:off x="4929581" y="3641657"/>
            <a:ext cx="1101177" cy="2091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solidFill>
                  <a:schemeClr val="bg2"/>
                </a:solidFill>
              </a:rPr>
              <a:t>Preference Scores</a:t>
            </a:r>
            <a:endParaRPr lang="zh-CN" altLang="en-US" sz="800" dirty="0">
              <a:solidFill>
                <a:schemeClr val="bg2"/>
              </a:solidFill>
            </a:endParaRP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EABA441D-EF36-FE46-F85B-73A333AD9DA1}"/>
              </a:ext>
            </a:extLst>
          </p:cNvPr>
          <p:cNvSpPr/>
          <p:nvPr/>
        </p:nvSpPr>
        <p:spPr>
          <a:xfrm>
            <a:off x="2434958" y="2988529"/>
            <a:ext cx="1226077" cy="288011"/>
          </a:xfrm>
          <a:prstGeom prst="round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bg2"/>
                </a:solidFill>
              </a:rPr>
              <a:t>ML Prediction</a:t>
            </a:r>
            <a:endParaRPr lang="zh-CN" altLang="en-US" sz="1100" dirty="0">
              <a:solidFill>
                <a:schemeClr val="bg2"/>
              </a:solidFill>
            </a:endParaRP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2A59B8FE-EE47-DE56-D6A0-047AD16C2D84}"/>
              </a:ext>
            </a:extLst>
          </p:cNvPr>
          <p:cNvSpPr/>
          <p:nvPr/>
        </p:nvSpPr>
        <p:spPr>
          <a:xfrm>
            <a:off x="4120279" y="4285267"/>
            <a:ext cx="1718299" cy="288011"/>
          </a:xfrm>
          <a:prstGeom prst="round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bg2"/>
                </a:solidFill>
              </a:rPr>
              <a:t>Recommendation Logic</a:t>
            </a:r>
            <a:endParaRPr lang="zh-CN" altLang="en-US" sz="1100" dirty="0">
              <a:solidFill>
                <a:schemeClr val="bg2"/>
              </a:solidFill>
            </a:endParaRP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1F809837-4EE5-858A-9603-737C2281F465}"/>
              </a:ext>
            </a:extLst>
          </p:cNvPr>
          <p:cNvSpPr/>
          <p:nvPr/>
        </p:nvSpPr>
        <p:spPr>
          <a:xfrm>
            <a:off x="6713342" y="3714005"/>
            <a:ext cx="1693590" cy="288011"/>
          </a:xfrm>
          <a:prstGeom prst="round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bg2"/>
                </a:solidFill>
              </a:rPr>
              <a:t>Recipe Database</a:t>
            </a:r>
            <a:endParaRPr lang="zh-CN" altLang="en-US" sz="1100" dirty="0">
              <a:solidFill>
                <a:schemeClr val="bg2"/>
              </a:solidFill>
            </a:endParaRP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5D98AD3B-2DDA-4846-1281-3A07F1F850C6}"/>
              </a:ext>
            </a:extLst>
          </p:cNvPr>
          <p:cNvSpPr/>
          <p:nvPr/>
        </p:nvSpPr>
        <p:spPr>
          <a:xfrm>
            <a:off x="6947098" y="2998737"/>
            <a:ext cx="1226077" cy="288011"/>
          </a:xfrm>
          <a:prstGeom prst="round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bg2"/>
                </a:solidFill>
              </a:rPr>
              <a:t>GUI Output</a:t>
            </a:r>
            <a:endParaRPr lang="zh-CN" altLang="en-US" sz="1100" dirty="0">
              <a:solidFill>
                <a:schemeClr val="bg2"/>
              </a:solidFill>
            </a:endParaRP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EEF1A2B3-44B2-B79B-8F4D-8F4F57C2EC8C}"/>
              </a:ext>
            </a:extLst>
          </p:cNvPr>
          <p:cNvSpPr/>
          <p:nvPr/>
        </p:nvSpPr>
        <p:spPr>
          <a:xfrm>
            <a:off x="2434957" y="3714005"/>
            <a:ext cx="1226076" cy="288011"/>
          </a:xfrm>
          <a:prstGeom prst="roundRect">
            <a:avLst/>
          </a:prstGeom>
          <a:noFill/>
          <a:ln w="1270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dirty="0">
                <a:solidFill>
                  <a:schemeClr val="bg2"/>
                </a:solidFill>
              </a:rPr>
              <a:t>LLM </a:t>
            </a:r>
            <a:endParaRPr lang="zh-CN" altLang="en-US" sz="1100" dirty="0">
              <a:solidFill>
                <a:schemeClr val="bg2"/>
              </a:solidFill>
            </a:endParaRPr>
          </a:p>
        </p:txBody>
      </p:sp>
      <p:cxnSp>
        <p:nvCxnSpPr>
          <p:cNvPr id="18" name="连接符: 肘形 17">
            <a:extLst>
              <a:ext uri="{FF2B5EF4-FFF2-40B4-BE49-F238E27FC236}">
                <a16:creationId xmlns:a16="http://schemas.microsoft.com/office/drawing/2014/main" id="{36A57334-05FD-68C0-93AB-95FE199067D0}"/>
              </a:ext>
            </a:extLst>
          </p:cNvPr>
          <p:cNvCxnSpPr>
            <a:stCxn id="4" idx="2"/>
            <a:endCxn id="14" idx="0"/>
          </p:cNvCxnSpPr>
          <p:nvPr/>
        </p:nvCxnSpPr>
        <p:spPr>
          <a:xfrm rot="16200000" flipH="1">
            <a:off x="1901687" y="2567697"/>
            <a:ext cx="437464" cy="1855152"/>
          </a:xfrm>
          <a:prstGeom prst="bentConnector3">
            <a:avLst/>
          </a:prstGeom>
          <a:ln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连接符: 肘形 19">
            <a:extLst>
              <a:ext uri="{FF2B5EF4-FFF2-40B4-BE49-F238E27FC236}">
                <a16:creationId xmlns:a16="http://schemas.microsoft.com/office/drawing/2014/main" id="{D685C5D3-065E-B853-D199-AAEEF5F30B30}"/>
              </a:ext>
            </a:extLst>
          </p:cNvPr>
          <p:cNvCxnSpPr>
            <a:stCxn id="7" idx="2"/>
            <a:endCxn id="14" idx="0"/>
          </p:cNvCxnSpPr>
          <p:nvPr/>
        </p:nvCxnSpPr>
        <p:spPr>
          <a:xfrm rot="5400000">
            <a:off x="2829264" y="3495271"/>
            <a:ext cx="437465" cy="2"/>
          </a:xfrm>
          <a:prstGeom prst="bentConnector3">
            <a:avLst/>
          </a:prstGeom>
          <a:ln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连接符: 肘形 21">
            <a:extLst>
              <a:ext uri="{FF2B5EF4-FFF2-40B4-BE49-F238E27FC236}">
                <a16:creationId xmlns:a16="http://schemas.microsoft.com/office/drawing/2014/main" id="{25FDFD03-E151-21F7-66E5-8B196FD430A1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1805880" y="3132535"/>
            <a:ext cx="629078" cy="1"/>
          </a:xfrm>
          <a:prstGeom prst="bentConnector3">
            <a:avLst/>
          </a:prstGeom>
          <a:ln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连接符: 肘形 39">
            <a:extLst>
              <a:ext uri="{FF2B5EF4-FFF2-40B4-BE49-F238E27FC236}">
                <a16:creationId xmlns:a16="http://schemas.microsoft.com/office/drawing/2014/main" id="{F54E2A5C-090D-A07B-7FF3-13157480FCA3}"/>
              </a:ext>
            </a:extLst>
          </p:cNvPr>
          <p:cNvCxnSpPr>
            <a:cxnSpLocks/>
            <a:stCxn id="14" idx="3"/>
            <a:endCxn id="5" idx="1"/>
          </p:cNvCxnSpPr>
          <p:nvPr/>
        </p:nvCxnSpPr>
        <p:spPr>
          <a:xfrm flipV="1">
            <a:off x="3661033" y="3130361"/>
            <a:ext cx="707077" cy="727650"/>
          </a:xfrm>
          <a:prstGeom prst="bentConnector3">
            <a:avLst>
              <a:gd name="adj1" fmla="val 50000"/>
            </a:avLst>
          </a:prstGeom>
          <a:ln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5BC26037-7C26-3BFC-3430-6D8559F70594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4979429" y="3274366"/>
            <a:ext cx="1" cy="1010901"/>
          </a:xfrm>
          <a:prstGeom prst="straightConnector1">
            <a:avLst/>
          </a:prstGeom>
          <a:ln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4" name="连接符: 肘形 263">
            <a:extLst>
              <a:ext uri="{FF2B5EF4-FFF2-40B4-BE49-F238E27FC236}">
                <a16:creationId xmlns:a16="http://schemas.microsoft.com/office/drawing/2014/main" id="{EC7A415A-668A-2109-F830-63E769FE6765}"/>
              </a:ext>
            </a:extLst>
          </p:cNvPr>
          <p:cNvCxnSpPr>
            <a:stCxn id="8" idx="3"/>
            <a:endCxn id="9" idx="2"/>
          </p:cNvCxnSpPr>
          <p:nvPr/>
        </p:nvCxnSpPr>
        <p:spPr>
          <a:xfrm flipV="1">
            <a:off x="5838578" y="4002016"/>
            <a:ext cx="1721559" cy="427257"/>
          </a:xfrm>
          <a:prstGeom prst="bentConnector2">
            <a:avLst/>
          </a:prstGeom>
          <a:ln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直接箭头连接符 265">
            <a:extLst>
              <a:ext uri="{FF2B5EF4-FFF2-40B4-BE49-F238E27FC236}">
                <a16:creationId xmlns:a16="http://schemas.microsoft.com/office/drawing/2014/main" id="{0CC04D9C-57A2-3EB7-0591-8B68CED42716}"/>
              </a:ext>
            </a:extLst>
          </p:cNvPr>
          <p:cNvCxnSpPr>
            <a:stCxn id="9" idx="0"/>
            <a:endCxn id="10" idx="2"/>
          </p:cNvCxnSpPr>
          <p:nvPr/>
        </p:nvCxnSpPr>
        <p:spPr>
          <a:xfrm flipV="1">
            <a:off x="7560137" y="3286748"/>
            <a:ext cx="0" cy="427257"/>
          </a:xfrm>
          <a:prstGeom prst="straightConnector1">
            <a:avLst/>
          </a:prstGeom>
          <a:ln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8" name="矩形 267">
            <a:extLst>
              <a:ext uri="{FF2B5EF4-FFF2-40B4-BE49-F238E27FC236}">
                <a16:creationId xmlns:a16="http://schemas.microsoft.com/office/drawing/2014/main" id="{C904E03E-6438-6AC3-AAD3-F8052800BDE4}"/>
              </a:ext>
            </a:extLst>
          </p:cNvPr>
          <p:cNvSpPr/>
          <p:nvPr/>
        </p:nvSpPr>
        <p:spPr>
          <a:xfrm>
            <a:off x="3874168" y="2743197"/>
            <a:ext cx="2341001" cy="1969741"/>
          </a:xfrm>
          <a:prstGeom prst="rect">
            <a:avLst/>
          </a:prstGeom>
          <a:noFill/>
          <a:ln w="952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9" name="矩形: 圆角 268">
            <a:extLst>
              <a:ext uri="{FF2B5EF4-FFF2-40B4-BE49-F238E27FC236}">
                <a16:creationId xmlns:a16="http://schemas.microsoft.com/office/drawing/2014/main" id="{6CAB6AAE-642B-7506-B396-1EA4BD7F980B}"/>
              </a:ext>
            </a:extLst>
          </p:cNvPr>
          <p:cNvSpPr/>
          <p:nvPr/>
        </p:nvSpPr>
        <p:spPr>
          <a:xfrm>
            <a:off x="4428839" y="4776037"/>
            <a:ext cx="1101177" cy="209100"/>
          </a:xfrm>
          <a:prstGeom prst="round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800" dirty="0">
                <a:solidFill>
                  <a:schemeClr val="bg2"/>
                </a:solidFill>
              </a:rPr>
              <a:t>MCP</a:t>
            </a:r>
            <a:endParaRPr lang="zh-CN" altLang="en-US" sz="800" dirty="0">
              <a:solidFill>
                <a:schemeClr val="bg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sp>
        <p:nvSpPr>
          <p:cNvPr id="300" name="Google Shape;300;p41"/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CSYE 7380 - Theory &amp; Prac App AI Gen Model College of Engineering, Northeastern University </a:t>
            </a:r>
            <a:endParaRPr/>
          </a:p>
        </p:txBody>
      </p:sp>
      <p:sp>
        <p:nvSpPr>
          <p:cNvPr id="301" name="Google Shape;301;p41"/>
          <p:cNvSpPr txBox="1"/>
          <p:nvPr/>
        </p:nvSpPr>
        <p:spPr>
          <a:xfrm>
            <a:off x="516437" y="7447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Model Interpretation（Machine Learning）</a:t>
            </a:r>
            <a:endParaRPr sz="36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02" name="Google Shape;302;p41"/>
          <p:cNvSpPr txBox="1"/>
          <p:nvPr/>
        </p:nvSpPr>
        <p:spPr>
          <a:xfrm>
            <a:off x="516425" y="1370275"/>
            <a:ext cx="6790500" cy="27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chemeClr val="hlink"/>
                </a:solidFill>
              </a:rPr>
              <a:t>🔹 Model Performance</a:t>
            </a:r>
            <a:endParaRPr sz="1300" b="1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>
                <a:solidFill>
                  <a:schemeClr val="hlink"/>
                </a:solidFill>
              </a:rPr>
              <a:t>Removed low-correlation features ( |r| &lt; 0.2)</a:t>
            </a:r>
            <a:br>
              <a:rPr lang="en" sz="1100">
                <a:solidFill>
                  <a:schemeClr val="hlink"/>
                </a:solidFill>
              </a:rPr>
            </a:br>
            <a:endParaRPr sz="110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>
                <a:solidFill>
                  <a:schemeClr val="hlink"/>
                </a:solidFill>
              </a:rPr>
              <a:t>Ensemble models outperform individual ones in both AUC and AUPR</a:t>
            </a:r>
            <a:br>
              <a:rPr lang="en" sz="1100">
                <a:solidFill>
                  <a:schemeClr val="hlink"/>
                </a:solidFill>
              </a:rPr>
            </a:br>
            <a:endParaRPr sz="110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>
                <a:solidFill>
                  <a:schemeClr val="hlink"/>
                </a:solidFill>
              </a:rPr>
              <a:t>Stacking improves prediction stability across folds</a:t>
            </a:r>
            <a:br>
              <a:rPr lang="en" sz="1100">
                <a:solidFill>
                  <a:schemeClr val="hlink"/>
                </a:solidFill>
              </a:rPr>
            </a:br>
            <a:endParaRPr sz="110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>
                <a:solidFill>
                  <a:schemeClr val="hlink"/>
                </a:solidFill>
              </a:rPr>
              <a:t>SMOTE enhances recall for minority (diabetic) class</a:t>
            </a:r>
            <a:endParaRPr sz="1100">
              <a:solidFill>
                <a:schemeClr val="hlink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300" b="1">
              <a:solidFill>
                <a:schemeClr val="hlink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4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sp>
        <p:nvSpPr>
          <p:cNvPr id="308" name="Google Shape;308;p42"/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CSYE 7380 - Theory &amp; Prac App AI Gen Model College of Engineering, Northeastern University </a:t>
            </a:r>
            <a:endParaRPr/>
          </a:p>
        </p:txBody>
      </p:sp>
      <p:sp>
        <p:nvSpPr>
          <p:cNvPr id="309" name="Google Shape;309;p42"/>
          <p:cNvSpPr txBox="1"/>
          <p:nvPr/>
        </p:nvSpPr>
        <p:spPr>
          <a:xfrm>
            <a:off x="516437" y="7447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Model Interpretation（LLM + MCP）</a:t>
            </a:r>
            <a:endParaRPr sz="36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10" name="Google Shape;310;p42"/>
          <p:cNvSpPr txBox="1"/>
          <p:nvPr/>
        </p:nvSpPr>
        <p:spPr>
          <a:xfrm>
            <a:off x="516425" y="1370275"/>
            <a:ext cx="6790500" cy="27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>
                <a:solidFill>
                  <a:schemeClr val="hlink"/>
                </a:solidFill>
              </a:rPr>
              <a:t>🔹 Interpretable Output from LLM</a:t>
            </a:r>
            <a:endParaRPr sz="1300" b="1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>
                <a:solidFill>
                  <a:schemeClr val="hlink"/>
                </a:solidFill>
              </a:rPr>
              <a:t>MCP ensures structured, score-based food preference output</a:t>
            </a:r>
            <a:br>
              <a:rPr lang="en" sz="1100">
                <a:solidFill>
                  <a:schemeClr val="hlink"/>
                </a:solidFill>
              </a:rPr>
            </a:br>
            <a:endParaRPr sz="110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>
                <a:solidFill>
                  <a:schemeClr val="hlink"/>
                </a:solidFill>
              </a:rPr>
              <a:t>Category scores (–5 to +5) reflect user intent clearly</a:t>
            </a:r>
            <a:br>
              <a:rPr lang="en" sz="1100">
                <a:solidFill>
                  <a:schemeClr val="hlink"/>
                </a:solidFill>
              </a:rPr>
            </a:br>
            <a:endParaRPr sz="110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>
                <a:solidFill>
                  <a:schemeClr val="hlink"/>
                </a:solidFill>
              </a:rPr>
              <a:t>Includes reasoning to explain recommendations</a:t>
            </a:r>
            <a:endParaRPr sz="1300" b="1">
              <a:solidFill>
                <a:schemeClr val="hlink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sp>
        <p:nvSpPr>
          <p:cNvPr id="316" name="Google Shape;316;p43"/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CSYE 7380 - Theory &amp; Prac App AI Gen Model College of Engineering, Northeastern University </a:t>
            </a:r>
            <a:endParaRPr/>
          </a:p>
        </p:txBody>
      </p:sp>
      <p:sp>
        <p:nvSpPr>
          <p:cNvPr id="317" name="Google Shape;317;p43"/>
          <p:cNvSpPr txBox="1"/>
          <p:nvPr/>
        </p:nvSpPr>
        <p:spPr>
          <a:xfrm>
            <a:off x="516437" y="744789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250" b="1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Model Interpretation（apps use cases）</a:t>
            </a:r>
            <a:endParaRPr sz="3650" b="1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18" name="Google Shape;318;p43"/>
          <p:cNvSpPr txBox="1"/>
          <p:nvPr/>
        </p:nvSpPr>
        <p:spPr>
          <a:xfrm>
            <a:off x="516425" y="1370275"/>
            <a:ext cx="6790500" cy="27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chemeClr val="hlink"/>
                </a:solidFill>
              </a:rPr>
              <a:t>🔹 User-Facing Explanation via GUI</a:t>
            </a:r>
            <a:endParaRPr sz="1300" b="1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>
                <a:solidFill>
                  <a:schemeClr val="hlink"/>
                </a:solidFill>
              </a:rPr>
              <a:t>GUI shows predicted risk and recommended recipes</a:t>
            </a:r>
            <a:br>
              <a:rPr lang="en" sz="1100">
                <a:solidFill>
                  <a:schemeClr val="hlink"/>
                </a:solidFill>
              </a:rPr>
            </a:br>
            <a:endParaRPr sz="110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>
                <a:solidFill>
                  <a:schemeClr val="hlink"/>
                </a:solidFill>
              </a:rPr>
              <a:t>Clearly separates suitable and not-suitable options</a:t>
            </a:r>
            <a:br>
              <a:rPr lang="en" sz="1100">
                <a:solidFill>
                  <a:schemeClr val="hlink"/>
                </a:solidFill>
              </a:rPr>
            </a:br>
            <a:endParaRPr sz="110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>
                <a:solidFill>
                  <a:schemeClr val="hlink"/>
                </a:solidFill>
              </a:rPr>
              <a:t>Enhances transparency for end users</a:t>
            </a:r>
            <a:endParaRPr sz="1100">
              <a:solidFill>
                <a:schemeClr val="hlink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300" b="1">
              <a:solidFill>
                <a:schemeClr val="hlink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sp>
        <p:nvSpPr>
          <p:cNvPr id="324" name="Google Shape;324;p44"/>
          <p:cNvSpPr txBox="1">
            <a:spLocks noGrp="1"/>
          </p:cNvSpPr>
          <p:nvPr>
            <p:ph type="body" idx="2"/>
          </p:nvPr>
        </p:nvSpPr>
        <p:spPr>
          <a:xfrm>
            <a:off x="6452200" y="196725"/>
            <a:ext cx="2569200" cy="20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CSYE 7380 - Theory &amp; Prac App AI Gen Model College of Engineering, Northeastern University </a:t>
            </a:r>
            <a:endParaRPr/>
          </a:p>
        </p:txBody>
      </p:sp>
      <p:sp>
        <p:nvSpPr>
          <p:cNvPr id="325" name="Google Shape;325;p44"/>
          <p:cNvSpPr txBox="1"/>
          <p:nvPr/>
        </p:nvSpPr>
        <p:spPr>
          <a:xfrm>
            <a:off x="516437" y="397590"/>
            <a:ext cx="7043700" cy="49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2250" b="1" dirty="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rPr>
              <a:t>Creativity and Innovation</a:t>
            </a:r>
            <a:endParaRPr sz="3650" b="1" dirty="0">
              <a:solidFill>
                <a:schemeClr val="dk1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sp>
        <p:nvSpPr>
          <p:cNvPr id="326" name="Google Shape;326;p44"/>
          <p:cNvSpPr txBox="1"/>
          <p:nvPr/>
        </p:nvSpPr>
        <p:spPr>
          <a:xfrm>
            <a:off x="516425" y="779005"/>
            <a:ext cx="6790500" cy="36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chemeClr val="hlink"/>
                </a:solidFill>
              </a:rPr>
              <a:t>🔹 MCP + LLM Preference Scoring</a:t>
            </a:r>
            <a:endParaRPr sz="1300" b="1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Used </a:t>
            </a:r>
            <a:r>
              <a:rPr lang="en" sz="1100" b="1" dirty="0">
                <a:solidFill>
                  <a:schemeClr val="hlink"/>
                </a:solidFill>
              </a:rPr>
              <a:t>Model Context Protocol</a:t>
            </a:r>
            <a:r>
              <a:rPr lang="en" sz="1100" dirty="0">
                <a:solidFill>
                  <a:schemeClr val="hlink"/>
                </a:solidFill>
              </a:rPr>
              <a:t> to extract structured scores from natural language</a:t>
            </a: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Enables controllable, explainable generative output – beyond simple prompting</a:t>
            </a:r>
            <a:endParaRPr sz="1100" dirty="0">
              <a:solidFill>
                <a:schemeClr val="hlink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chemeClr val="hlink"/>
                </a:solidFill>
              </a:rPr>
              <a:t>🔹 Two-Stage Recommendation Logic</a:t>
            </a:r>
            <a:endParaRPr sz="1300" b="1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Combined ML-based health risk prediction with LLM-based user intent parsing</a:t>
            </a: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Joint scoring mechanism ensures both health-aware and preference-driven filtering</a:t>
            </a:r>
            <a:endParaRPr sz="1100" dirty="0">
              <a:solidFill>
                <a:schemeClr val="hlink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hlink"/>
              </a:buClr>
              <a:buSzPts val="1100"/>
              <a:buFont typeface="Arial"/>
              <a:buNone/>
            </a:pPr>
            <a:r>
              <a:rPr lang="en" sz="1300" b="1" dirty="0">
                <a:solidFill>
                  <a:schemeClr val="hlink"/>
                </a:solidFill>
              </a:rPr>
              <a:t>🔹 Diabetic-Specific Recipe Filtering</a:t>
            </a:r>
            <a:endParaRPr sz="1300" b="1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Added logic to </a:t>
            </a:r>
            <a:r>
              <a:rPr lang="en" sz="1100" b="1" dirty="0">
                <a:solidFill>
                  <a:schemeClr val="hlink"/>
                </a:solidFill>
              </a:rPr>
              <a:t>flag and display “not suitable” recipes</a:t>
            </a:r>
            <a:r>
              <a:rPr lang="en" sz="1100" dirty="0">
                <a:solidFill>
                  <a:schemeClr val="hlink"/>
                </a:solidFill>
              </a:rPr>
              <a:t> for awareness</a:t>
            </a: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Rarely seen in typical recommendation systems</a:t>
            </a:r>
            <a:endParaRPr sz="1100" dirty="0">
              <a:solidFill>
                <a:schemeClr val="hlink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 b="1" dirty="0">
                <a:solidFill>
                  <a:schemeClr val="hlink"/>
                </a:solidFill>
              </a:rPr>
              <a:t>🔹 Fully Functional GUI</a:t>
            </a:r>
            <a:endParaRPr sz="1300" b="1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Built an interface that non-technical users can interact with</a:t>
            </a:r>
            <a:endParaRPr sz="1100" dirty="0">
              <a:solidFill>
                <a:schemeClr val="hlink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hlink"/>
              </a:buClr>
              <a:buSzPts val="1100"/>
              <a:buChar char="●"/>
            </a:pPr>
            <a:r>
              <a:rPr lang="en" sz="1100" dirty="0">
                <a:solidFill>
                  <a:schemeClr val="hlink"/>
                </a:solidFill>
              </a:rPr>
              <a:t>Integrates ML, LLM, and recommendation results in one place</a:t>
            </a:r>
            <a:br>
              <a:rPr lang="en" sz="1100" dirty="0">
                <a:solidFill>
                  <a:schemeClr val="hlink"/>
                </a:solidFill>
              </a:rPr>
            </a:br>
            <a:endParaRPr sz="1100" dirty="0">
              <a:solidFill>
                <a:schemeClr val="hlink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 dirty="0">
              <a:solidFill>
                <a:schemeClr val="hlink"/>
              </a:solidFill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sz="1300" b="1" dirty="0">
              <a:solidFill>
                <a:schemeClr val="hlink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/>
        </a:solidFill>
        <a:effectLst/>
      </p:bgPr>
    </p:bg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4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sp>
        <p:nvSpPr>
          <p:cNvPr id="332" name="Google Shape;332;p45"/>
          <p:cNvSpPr txBox="1">
            <a:spLocks noGrp="1"/>
          </p:cNvSpPr>
          <p:nvPr>
            <p:ph type="subTitle" idx="1"/>
          </p:nvPr>
        </p:nvSpPr>
        <p:spPr>
          <a:xfrm>
            <a:off x="975300" y="1864050"/>
            <a:ext cx="7193400" cy="115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Thanks for Your Attention</a:t>
            </a:r>
            <a:endParaRPr/>
          </a:p>
          <a:p>
            <a:pPr marL="0" lvl="0" indent="0" algn="ctr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  <p:sp>
        <p:nvSpPr>
          <p:cNvPr id="333" name="Google Shape;333;p45"/>
          <p:cNvSpPr txBox="1"/>
          <p:nvPr/>
        </p:nvSpPr>
        <p:spPr>
          <a:xfrm>
            <a:off x="1660075" y="2571750"/>
            <a:ext cx="5427600" cy="115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cience Presentation">
  <a:themeElements>
    <a:clrScheme name="Simple Light">
      <a:dk1>
        <a:srgbClr val="005088"/>
      </a:dk1>
      <a:lt1>
        <a:srgbClr val="F3F0DF"/>
      </a:lt1>
      <a:dk2>
        <a:srgbClr val="121212"/>
      </a:dk2>
      <a:lt2>
        <a:srgbClr val="D0E0E3"/>
      </a:lt2>
      <a:accent1>
        <a:srgbClr val="11CAA0"/>
      </a:accent1>
      <a:accent2>
        <a:srgbClr val="6D6D6B"/>
      </a:accent2>
      <a:accent3>
        <a:srgbClr val="FFFFFF"/>
      </a:accent3>
      <a:accent4>
        <a:srgbClr val="656839"/>
      </a:accent4>
      <a:accent5>
        <a:srgbClr val="774936"/>
      </a:accent5>
      <a:accent6>
        <a:srgbClr val="C492B1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848</Words>
  <Application>Microsoft Office PowerPoint</Application>
  <PresentationFormat>全屏显示(16:9)</PresentationFormat>
  <Paragraphs>133</Paragraphs>
  <Slides>14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0" baseType="lpstr">
      <vt:lpstr>Arial</vt:lpstr>
      <vt:lpstr>DM Sans Medium</vt:lpstr>
      <vt:lpstr>DM Sans</vt:lpstr>
      <vt:lpstr>Times New Roman</vt:lpstr>
      <vt:lpstr>Merriweather</vt:lpstr>
      <vt:lpstr>Science Presentation</vt:lpstr>
      <vt:lpstr>DiabetaRec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1929760748@qq.com</cp:lastModifiedBy>
  <cp:revision>1</cp:revision>
  <dcterms:modified xsi:type="dcterms:W3CDTF">2025-04-08T00:35:20Z</dcterms:modified>
</cp:coreProperties>
</file>