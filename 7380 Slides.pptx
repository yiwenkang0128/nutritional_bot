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DM Sans Medium"/>
      <p:regular r:id="rId20"/>
      <p:bold r:id="rId21"/>
      <p:italic r:id="rId22"/>
      <p:boldItalic r:id="rId23"/>
    </p:embeddedFont>
    <p:embeddedFont>
      <p:font typeface="Merriweather"/>
      <p:regular r:id="rId24"/>
      <p:bold r:id="rId25"/>
      <p:italic r:id="rId26"/>
      <p:boldItalic r:id="rId27"/>
    </p:embeddedFont>
    <p:embeddedFont>
      <p:font typeface="DM Sans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Medium-regular.fntdata"/><Relationship Id="rId22" Type="http://schemas.openxmlformats.org/officeDocument/2006/relationships/font" Target="fonts/DMSansMedium-italic.fntdata"/><Relationship Id="rId21" Type="http://schemas.openxmlformats.org/officeDocument/2006/relationships/font" Target="fonts/DMSansMedium-bold.fntdata"/><Relationship Id="rId24" Type="http://schemas.openxmlformats.org/officeDocument/2006/relationships/font" Target="fonts/Merriweather-regular.fntdata"/><Relationship Id="rId23" Type="http://schemas.openxmlformats.org/officeDocument/2006/relationships/font" Target="fonts/DMSansMedium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erriweather-italic.fntdata"/><Relationship Id="rId25" Type="http://schemas.openxmlformats.org/officeDocument/2006/relationships/font" Target="fonts/Merriweather-bold.fntdata"/><Relationship Id="rId28" Type="http://schemas.openxmlformats.org/officeDocument/2006/relationships/font" Target="fonts/DMSans-regular.fntdata"/><Relationship Id="rId27" Type="http://schemas.openxmlformats.org/officeDocument/2006/relationships/font" Target="fonts/Merriweather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DM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DMSans-boldItalic.fntdata"/><Relationship Id="rId30" Type="http://schemas.openxmlformats.org/officeDocument/2006/relationships/font" Target="fonts/DMSans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4073f53f9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4073f53f9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4073f53f9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4073f53f9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4073f53f99_1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4073f53f99_1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4073f53f99_1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4073f53f99_1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4073f53f99_1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4073f53f99_1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4073f53f99_1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4073f53f99_1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4073f53f99_1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4073f53f99_1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4073f53f99_1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4073f53f99_1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4073f53f99_1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4073f53f99_1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4073f53f99_1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4073f53f99_1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4073f53f99_1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4073f53f99_1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4073f53f99_1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4073f53f99_1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4073f53f99_1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4073f53f99_1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4073f53f99_1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4073f53f99_1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" name="Google Shape;53;p1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" name="Google Shape;54;p1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5" name="Google Shape;55;p1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" name="Google Shape;56;p1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" name="Google Shape;57;p1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8" name="Google Shape;58;p1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2" name="Google Shape;62;p1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1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0" name="Google Shape;70;p1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7" name="Google Shape;77;p16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8" name="Google Shape;78;p16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9" name="Google Shape;79;p16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7" name="Google Shape;87;p1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" name="Google Shape;88;p1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" name="Google Shape;89;p1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0" name="Google Shape;90;p1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93" name="Google Shape;9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7" name="Google Shape;97;p1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8" name="Google Shape;98;p1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1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02" name="Google Shape;102;p1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3" name="Google Shape;103;p1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2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2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9" name="Google Shape;109;p2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2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1" name="Google Shape;11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" name="Google Shape;11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13" name="Google Shape;113;p2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4" name="Google Shape;114;p2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5" name="Google Shape;115;p2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2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2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2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2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2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2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28" name="Google Shape;128;p2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2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2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slide" type="title">
  <p:cSld name="TITLE">
    <p:bg>
      <p:bgPr>
        <a:solidFill>
          <a:schemeClr val="dk1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idx="1" type="body"/>
          </p:nvPr>
        </p:nvSpPr>
        <p:spPr>
          <a:xfrm>
            <a:off x="196951" y="4737750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3" name="Google Shape;133;p23"/>
          <p:cNvSpPr txBox="1"/>
          <p:nvPr>
            <p:ph type="ctrTitle"/>
          </p:nvPr>
        </p:nvSpPr>
        <p:spPr>
          <a:xfrm>
            <a:off x="196950" y="223825"/>
            <a:ext cx="8011800" cy="18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50"/>
              <a:buNone/>
              <a:defRPr sz="675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" name="Google Shape;134;p23"/>
          <p:cNvSpPr txBox="1"/>
          <p:nvPr>
            <p:ph idx="2" type="subTitle"/>
          </p:nvPr>
        </p:nvSpPr>
        <p:spPr>
          <a:xfrm>
            <a:off x="196950" y="2171250"/>
            <a:ext cx="3986700" cy="5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50"/>
              <a:buFont typeface="DM Sans Medium"/>
              <a:buNone/>
              <a:defRPr sz="1850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5" name="Google Shape;135;p23"/>
          <p:cNvSpPr/>
          <p:nvPr>
            <p:ph idx="3" type="pic"/>
          </p:nvPr>
        </p:nvSpPr>
        <p:spPr>
          <a:xfrm>
            <a:off x="4437578" y="2171250"/>
            <a:ext cx="4509600" cy="27756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136" name="Google Shape;136;p23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number" type="secHead">
  <p:cSld name="SECTION_HEADER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type="title"/>
          </p:nvPr>
        </p:nvSpPr>
        <p:spPr>
          <a:xfrm>
            <a:off x="511953" y="5885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9" name="Google Shape;13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0" name="Google Shape;140;p24"/>
          <p:cNvSpPr txBox="1"/>
          <p:nvPr>
            <p:ph idx="2" type="title"/>
          </p:nvPr>
        </p:nvSpPr>
        <p:spPr>
          <a:xfrm>
            <a:off x="511953" y="14303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1" name="Google Shape;141;p24"/>
          <p:cNvSpPr txBox="1"/>
          <p:nvPr>
            <p:ph idx="3" type="title"/>
          </p:nvPr>
        </p:nvSpPr>
        <p:spPr>
          <a:xfrm>
            <a:off x="511953" y="22721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2" name="Google Shape;142;p24"/>
          <p:cNvSpPr txBox="1"/>
          <p:nvPr>
            <p:ph idx="4" type="title"/>
          </p:nvPr>
        </p:nvSpPr>
        <p:spPr>
          <a:xfrm>
            <a:off x="511953" y="31139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3" name="Google Shape;143;p24"/>
          <p:cNvSpPr txBox="1"/>
          <p:nvPr>
            <p:ph idx="5" type="title"/>
          </p:nvPr>
        </p:nvSpPr>
        <p:spPr>
          <a:xfrm>
            <a:off x="511953" y="39557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4" name="Google Shape;144;p24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5" name="Google Shape;145;p24"/>
          <p:cNvSpPr txBox="1"/>
          <p:nvPr>
            <p:ph idx="6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 type="tx">
  <p:cSld name="TITLE_AND_BODY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25"/>
          <p:cNvSpPr txBox="1"/>
          <p:nvPr>
            <p:ph idx="1" type="subTitle"/>
          </p:nvPr>
        </p:nvSpPr>
        <p:spPr>
          <a:xfrm>
            <a:off x="975300" y="1864050"/>
            <a:ext cx="7193400" cy="14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149" name="Google Shape;149;p25"/>
          <p:cNvSpPr txBox="1"/>
          <p:nvPr>
            <p:ph idx="2" type="body"/>
          </p:nvPr>
        </p:nvSpPr>
        <p:spPr>
          <a:xfrm>
            <a:off x="196951" y="196725"/>
            <a:ext cx="18591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0" name="Google Shape;150;p25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2">
  <p:cSld name="TITLE_AND_BODY_1">
    <p:bg>
      <p:bgPr>
        <a:solidFill>
          <a:schemeClr val="dk1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3" name="Google Shape;153;p26"/>
          <p:cNvSpPr txBox="1"/>
          <p:nvPr>
            <p:ph idx="1" type="subTitle"/>
          </p:nvPr>
        </p:nvSpPr>
        <p:spPr>
          <a:xfrm>
            <a:off x="975300" y="1864050"/>
            <a:ext cx="7193400" cy="14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154" name="Google Shape;154;p26"/>
          <p:cNvSpPr txBox="1"/>
          <p:nvPr>
            <p:ph idx="2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5" name="Google Shape;155;p26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1" type="twoColTx">
  <p:cSld name="TITLE_AND_TWO_COLUMNS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7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58" name="Google Shape;158;p27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9" name="Google Shape;159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0" name="Google Shape;160;p27"/>
          <p:cNvSpPr/>
          <p:nvPr>
            <p:ph idx="2" type="pic"/>
          </p:nvPr>
        </p:nvSpPr>
        <p:spPr>
          <a:xfrm>
            <a:off x="3726325" y="669925"/>
            <a:ext cx="5220900" cy="4276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161" name="Google Shape;161;p27"/>
          <p:cNvSpPr txBox="1"/>
          <p:nvPr>
            <p:ph idx="3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2" name="Google Shape;162;p27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2">
  <p:cSld name="TITLE_AND_TWO_COLUMNS_1">
    <p:bg>
      <p:bgPr>
        <a:solidFill>
          <a:schemeClr val="dk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8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5" name="Google Shape;165;p28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6" name="Google Shape;166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7" name="Google Shape;167;p28"/>
          <p:cNvSpPr/>
          <p:nvPr>
            <p:ph idx="2" type="pic"/>
          </p:nvPr>
        </p:nvSpPr>
        <p:spPr>
          <a:xfrm>
            <a:off x="3726325" y="669925"/>
            <a:ext cx="5220900" cy="4276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168" name="Google Shape;168;p28"/>
          <p:cNvSpPr txBox="1"/>
          <p:nvPr>
            <p:ph idx="3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9" name="Google Shape;169;p28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0" name="Google Shape;170;p28"/>
          <p:cNvSpPr txBox="1"/>
          <p:nvPr>
            <p:ph idx="5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chart">
  <p:cSld name="SECTION_TITLE_AND_DESCRIPTION">
    <p:bg>
      <p:bgPr>
        <a:solidFill>
          <a:schemeClr val="lt2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9"/>
          <p:cNvSpPr/>
          <p:nvPr/>
        </p:nvSpPr>
        <p:spPr>
          <a:xfrm>
            <a:off x="4305000" y="-125"/>
            <a:ext cx="4839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3" name="Google Shape;173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4" name="Google Shape;174;p29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75" name="Google Shape;175;p29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76" name="Google Shape;176;p29"/>
          <p:cNvSpPr txBox="1"/>
          <p:nvPr>
            <p:ph idx="2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77" name="Google Shape;177;p29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ppendix">
  <p:cSld name="CAPTION_ONLY">
    <p:bg>
      <p:bgPr>
        <a:solidFill>
          <a:schemeClr val="lt2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0" name="Google Shape;180;p30"/>
          <p:cNvSpPr txBox="1"/>
          <p:nvPr>
            <p:ph idx="1" type="body"/>
          </p:nvPr>
        </p:nvSpPr>
        <p:spPr>
          <a:xfrm>
            <a:off x="2030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81" name="Google Shape;181;p30"/>
          <p:cNvSpPr txBox="1"/>
          <p:nvPr>
            <p:ph idx="2" type="body"/>
          </p:nvPr>
        </p:nvSpPr>
        <p:spPr>
          <a:xfrm>
            <a:off x="2030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82" name="Google Shape;182;p30"/>
          <p:cNvSpPr txBox="1"/>
          <p:nvPr>
            <p:ph idx="3" type="body"/>
          </p:nvPr>
        </p:nvSpPr>
        <p:spPr>
          <a:xfrm>
            <a:off x="2030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83" name="Google Shape;183;p30"/>
          <p:cNvSpPr txBox="1"/>
          <p:nvPr>
            <p:ph idx="4" type="body"/>
          </p:nvPr>
        </p:nvSpPr>
        <p:spPr>
          <a:xfrm>
            <a:off x="2030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84" name="Google Shape;184;p30"/>
          <p:cNvSpPr txBox="1"/>
          <p:nvPr>
            <p:ph idx="5" type="body"/>
          </p:nvPr>
        </p:nvSpPr>
        <p:spPr>
          <a:xfrm>
            <a:off x="2030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85" name="Google Shape;185;p30"/>
          <p:cNvSpPr txBox="1"/>
          <p:nvPr>
            <p:ph idx="6" type="body"/>
          </p:nvPr>
        </p:nvSpPr>
        <p:spPr>
          <a:xfrm>
            <a:off x="2030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86" name="Google Shape;186;p30"/>
          <p:cNvSpPr txBox="1"/>
          <p:nvPr>
            <p:ph idx="7" type="body"/>
          </p:nvPr>
        </p:nvSpPr>
        <p:spPr>
          <a:xfrm>
            <a:off x="2030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87" name="Google Shape;187;p30"/>
          <p:cNvSpPr txBox="1"/>
          <p:nvPr>
            <p:ph idx="8" type="body"/>
          </p:nvPr>
        </p:nvSpPr>
        <p:spPr>
          <a:xfrm>
            <a:off x="2030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88" name="Google Shape;188;p30"/>
          <p:cNvSpPr txBox="1"/>
          <p:nvPr>
            <p:ph idx="9" type="body"/>
          </p:nvPr>
        </p:nvSpPr>
        <p:spPr>
          <a:xfrm>
            <a:off x="2030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89" name="Google Shape;189;p30"/>
          <p:cNvSpPr txBox="1"/>
          <p:nvPr>
            <p:ph idx="13" type="body"/>
          </p:nvPr>
        </p:nvSpPr>
        <p:spPr>
          <a:xfrm>
            <a:off x="32496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90" name="Google Shape;190;p30"/>
          <p:cNvSpPr txBox="1"/>
          <p:nvPr>
            <p:ph idx="14" type="body"/>
          </p:nvPr>
        </p:nvSpPr>
        <p:spPr>
          <a:xfrm>
            <a:off x="32496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91" name="Google Shape;191;p30"/>
          <p:cNvSpPr txBox="1"/>
          <p:nvPr>
            <p:ph idx="15" type="body"/>
          </p:nvPr>
        </p:nvSpPr>
        <p:spPr>
          <a:xfrm>
            <a:off x="32496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92" name="Google Shape;192;p30"/>
          <p:cNvSpPr txBox="1"/>
          <p:nvPr>
            <p:ph idx="16" type="body"/>
          </p:nvPr>
        </p:nvSpPr>
        <p:spPr>
          <a:xfrm>
            <a:off x="32496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93" name="Google Shape;193;p30"/>
          <p:cNvSpPr txBox="1"/>
          <p:nvPr>
            <p:ph idx="17" type="body"/>
          </p:nvPr>
        </p:nvSpPr>
        <p:spPr>
          <a:xfrm>
            <a:off x="32496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94" name="Google Shape;194;p30"/>
          <p:cNvSpPr txBox="1"/>
          <p:nvPr>
            <p:ph idx="18" type="body"/>
          </p:nvPr>
        </p:nvSpPr>
        <p:spPr>
          <a:xfrm>
            <a:off x="32496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95" name="Google Shape;195;p30"/>
          <p:cNvSpPr txBox="1"/>
          <p:nvPr>
            <p:ph idx="19" type="body"/>
          </p:nvPr>
        </p:nvSpPr>
        <p:spPr>
          <a:xfrm>
            <a:off x="32496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96" name="Google Shape;196;p30"/>
          <p:cNvSpPr txBox="1"/>
          <p:nvPr>
            <p:ph idx="20" type="body"/>
          </p:nvPr>
        </p:nvSpPr>
        <p:spPr>
          <a:xfrm>
            <a:off x="32496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97" name="Google Shape;197;p30"/>
          <p:cNvSpPr txBox="1"/>
          <p:nvPr>
            <p:ph idx="21" type="body"/>
          </p:nvPr>
        </p:nvSpPr>
        <p:spPr>
          <a:xfrm>
            <a:off x="32496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98" name="Google Shape;198;p30"/>
          <p:cNvSpPr txBox="1"/>
          <p:nvPr>
            <p:ph idx="22" type="body"/>
          </p:nvPr>
        </p:nvSpPr>
        <p:spPr>
          <a:xfrm>
            <a:off x="62962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99" name="Google Shape;199;p30"/>
          <p:cNvSpPr txBox="1"/>
          <p:nvPr>
            <p:ph idx="23" type="body"/>
          </p:nvPr>
        </p:nvSpPr>
        <p:spPr>
          <a:xfrm>
            <a:off x="62962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00" name="Google Shape;200;p30"/>
          <p:cNvSpPr txBox="1"/>
          <p:nvPr>
            <p:ph idx="24" type="body"/>
          </p:nvPr>
        </p:nvSpPr>
        <p:spPr>
          <a:xfrm>
            <a:off x="62962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01" name="Google Shape;201;p30"/>
          <p:cNvSpPr txBox="1"/>
          <p:nvPr>
            <p:ph idx="25" type="body"/>
          </p:nvPr>
        </p:nvSpPr>
        <p:spPr>
          <a:xfrm>
            <a:off x="62962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02" name="Google Shape;202;p30"/>
          <p:cNvSpPr txBox="1"/>
          <p:nvPr>
            <p:ph idx="26" type="body"/>
          </p:nvPr>
        </p:nvSpPr>
        <p:spPr>
          <a:xfrm>
            <a:off x="62962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03" name="Google Shape;203;p30"/>
          <p:cNvSpPr txBox="1"/>
          <p:nvPr>
            <p:ph idx="27" type="body"/>
          </p:nvPr>
        </p:nvSpPr>
        <p:spPr>
          <a:xfrm>
            <a:off x="62962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04" name="Google Shape;204;p30"/>
          <p:cNvSpPr txBox="1"/>
          <p:nvPr>
            <p:ph idx="28" type="body"/>
          </p:nvPr>
        </p:nvSpPr>
        <p:spPr>
          <a:xfrm>
            <a:off x="62962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05" name="Google Shape;205;p30"/>
          <p:cNvSpPr txBox="1"/>
          <p:nvPr>
            <p:ph idx="29" type="body"/>
          </p:nvPr>
        </p:nvSpPr>
        <p:spPr>
          <a:xfrm>
            <a:off x="62962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06" name="Google Shape;206;p30"/>
          <p:cNvSpPr txBox="1"/>
          <p:nvPr>
            <p:ph idx="30" type="body"/>
          </p:nvPr>
        </p:nvSpPr>
        <p:spPr>
          <a:xfrm>
            <a:off x="62962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07" name="Google Shape;207;p30"/>
          <p:cNvSpPr txBox="1"/>
          <p:nvPr>
            <p:ph idx="31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08" name="Google Shape;208;p30"/>
          <p:cNvSpPr txBox="1"/>
          <p:nvPr>
            <p:ph idx="32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lank">
  <p:cSld name="CUSTOM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1" name="Google Shape;211;p31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2" name="Google Shape;212;p31"/>
          <p:cNvSpPr txBox="1"/>
          <p:nvPr>
            <p:ph idx="2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theme" Target="../theme/theme2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17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DM Sans"/>
              <a:buChar char="○"/>
              <a:defRPr sz="8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○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○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24">
          <p15:clr>
            <a:srgbClr val="E46962"/>
          </p15:clr>
        </p15:guide>
        <p15:guide id="2" orient="horz" pos="124">
          <p15:clr>
            <a:srgbClr val="E46962"/>
          </p15:clr>
        </p15:guide>
        <p15:guide id="3" pos="5636">
          <p15:clr>
            <a:srgbClr val="E46962"/>
          </p15:clr>
        </p15:guide>
        <p15:guide id="4" orient="horz" pos="3116">
          <p15:clr>
            <a:srgbClr val="E46962"/>
          </p15:clr>
        </p15:guide>
        <p15:guide id="5" pos="1296">
          <p15:clr>
            <a:srgbClr val="E46962"/>
          </p15:clr>
        </p15:guide>
        <p15:guide id="6" pos="4465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2"/>
          <p:cNvSpPr txBox="1"/>
          <p:nvPr>
            <p:ph idx="4" type="body"/>
          </p:nvPr>
        </p:nvSpPr>
        <p:spPr>
          <a:xfrm>
            <a:off x="8208751" y="196725"/>
            <a:ext cx="8124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04.21.2025</a:t>
            </a:r>
            <a:endParaRPr/>
          </a:p>
        </p:txBody>
      </p:sp>
      <p:sp>
        <p:nvSpPr>
          <p:cNvPr id="218" name="Google Shape;218;p32"/>
          <p:cNvSpPr txBox="1"/>
          <p:nvPr>
            <p:ph type="ctrTitle"/>
          </p:nvPr>
        </p:nvSpPr>
        <p:spPr>
          <a:xfrm>
            <a:off x="196950" y="405825"/>
            <a:ext cx="8750100" cy="18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DiabetaRec</a:t>
            </a:r>
            <a:endParaRPr/>
          </a:p>
        </p:txBody>
      </p:sp>
      <p:sp>
        <p:nvSpPr>
          <p:cNvPr id="219" name="Google Shape;219;p32"/>
          <p:cNvSpPr txBox="1"/>
          <p:nvPr>
            <p:ph idx="2" type="subTitle"/>
          </p:nvPr>
        </p:nvSpPr>
        <p:spPr>
          <a:xfrm>
            <a:off x="197375" y="1441575"/>
            <a:ext cx="8198100" cy="5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Personalized, Diabetes-Aware Recipe Recommendation System using Machine Learning and Generative AI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20" name="Google Shape;220;p32"/>
          <p:cNvSpPr txBox="1"/>
          <p:nvPr>
            <p:ph idx="1" type="body"/>
          </p:nvPr>
        </p:nvSpPr>
        <p:spPr>
          <a:xfrm>
            <a:off x="196950" y="4391250"/>
            <a:ext cx="2554800" cy="55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CSYE 7380 - Theory &amp; Prac App AI Gen Model College of Engineering, Northeastern University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Jiaxian </a:t>
            </a:r>
            <a:r>
              <a:rPr lang="en"/>
              <a:t>Li, Yiwen Kang</a:t>
            </a:r>
            <a:endParaRPr/>
          </a:p>
        </p:txBody>
      </p:sp>
      <p:pic>
        <p:nvPicPr>
          <p:cNvPr descr="Blue and green wave pattern. " id="221" name="Google Shape;221;p32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797" l="0" r="0" t="797"/>
          <a:stretch/>
        </p:blipFill>
        <p:spPr>
          <a:xfrm>
            <a:off x="4437578" y="2171250"/>
            <a:ext cx="4509600" cy="2775600"/>
          </a:xfrm>
          <a:prstGeom prst="round2DiagRect">
            <a:avLst>
              <a:gd fmla="val 16667" name="adj1"/>
              <a:gd fmla="val 0" name="adj2"/>
            </a:avLst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7" name="Google Shape;227;p33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228" name="Google Shape;228;p33"/>
          <p:cNvSpPr txBox="1"/>
          <p:nvPr>
            <p:ph idx="2" type="body"/>
          </p:nvPr>
        </p:nvSpPr>
        <p:spPr>
          <a:xfrm>
            <a:off x="6513075" y="196725"/>
            <a:ext cx="25077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CSYE 7380 - Theory &amp; Prac App AI Gen Model College of Engineering, Northeastern University </a:t>
            </a:r>
            <a:endParaRPr/>
          </a:p>
        </p:txBody>
      </p:sp>
      <p:sp>
        <p:nvSpPr>
          <p:cNvPr id="229" name="Google Shape;229;p33"/>
          <p:cNvSpPr txBox="1"/>
          <p:nvPr/>
        </p:nvSpPr>
        <p:spPr>
          <a:xfrm>
            <a:off x="516423" y="744800"/>
            <a:ext cx="83010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Problem Understanding and Definition</a:t>
            </a:r>
            <a:endParaRPr b="1" sz="22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30" name="Google Shape;230;p33"/>
          <p:cNvSpPr txBox="1"/>
          <p:nvPr/>
        </p:nvSpPr>
        <p:spPr>
          <a:xfrm>
            <a:off x="516437" y="1584311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Model/Framework Selection &amp; Implementation</a:t>
            </a:r>
            <a:endParaRPr b="1" sz="22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31" name="Google Shape;231;p33"/>
          <p:cNvSpPr txBox="1"/>
          <p:nvPr/>
        </p:nvSpPr>
        <p:spPr>
          <a:xfrm>
            <a:off x="516437" y="2423794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Model Interpretation</a:t>
            </a:r>
            <a:endParaRPr b="1" sz="22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32" name="Google Shape;232;p33"/>
          <p:cNvSpPr txBox="1"/>
          <p:nvPr/>
        </p:nvSpPr>
        <p:spPr>
          <a:xfrm>
            <a:off x="516437" y="3256495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22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Creativity and Innovation</a:t>
            </a:r>
            <a:endParaRPr b="1" sz="22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33" name="Google Shape;233;p33"/>
          <p:cNvSpPr txBox="1"/>
          <p:nvPr/>
        </p:nvSpPr>
        <p:spPr>
          <a:xfrm>
            <a:off x="196954" y="816789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1.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34" name="Google Shape;234;p33"/>
          <p:cNvSpPr txBox="1"/>
          <p:nvPr/>
        </p:nvSpPr>
        <p:spPr>
          <a:xfrm>
            <a:off x="196954" y="1656311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2.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35" name="Google Shape;235;p33"/>
          <p:cNvSpPr txBox="1"/>
          <p:nvPr/>
        </p:nvSpPr>
        <p:spPr>
          <a:xfrm>
            <a:off x="196954" y="2495794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3.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36" name="Google Shape;236;p33"/>
          <p:cNvSpPr txBox="1"/>
          <p:nvPr/>
        </p:nvSpPr>
        <p:spPr>
          <a:xfrm>
            <a:off x="196954" y="3328495"/>
            <a:ext cx="3918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4.</a:t>
            </a:r>
            <a:endParaRPr b="1" sz="14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2" name="Google Shape;242;p34"/>
          <p:cNvSpPr txBox="1"/>
          <p:nvPr>
            <p:ph idx="2" type="body"/>
          </p:nvPr>
        </p:nvSpPr>
        <p:spPr>
          <a:xfrm>
            <a:off x="6452200" y="196725"/>
            <a:ext cx="25692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CSYE 7380 - Theory &amp; Prac App AI Gen Model College of Engineering, Northeastern University </a:t>
            </a:r>
            <a:endParaRPr/>
          </a:p>
        </p:txBody>
      </p:sp>
      <p:sp>
        <p:nvSpPr>
          <p:cNvPr id="243" name="Google Shape;243;p34"/>
          <p:cNvSpPr txBox="1"/>
          <p:nvPr/>
        </p:nvSpPr>
        <p:spPr>
          <a:xfrm>
            <a:off x="516437" y="744789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Problem Understanding and Definition</a:t>
            </a:r>
            <a:endParaRPr b="1" sz="36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44" name="Google Shape;244;p34"/>
          <p:cNvSpPr txBox="1"/>
          <p:nvPr/>
        </p:nvSpPr>
        <p:spPr>
          <a:xfrm>
            <a:off x="516425" y="1370275"/>
            <a:ext cx="6790500" cy="27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hlink"/>
                </a:solidFill>
              </a:rPr>
              <a:t>🔹 Problem Statement</a:t>
            </a:r>
            <a:endParaRPr b="1" sz="1300">
              <a:solidFill>
                <a:schemeClr val="hlink"/>
              </a:solidFill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Char char="●"/>
            </a:pPr>
            <a:r>
              <a:rPr b="1" lang="en" sz="1100">
                <a:solidFill>
                  <a:schemeClr val="hlink"/>
                </a:solidFill>
              </a:rPr>
              <a:t>Diabetes requires personalized dietary planning</a:t>
            </a:r>
            <a:endParaRPr b="1" sz="1100">
              <a:solidFill>
                <a:schemeClr val="hlink"/>
              </a:solidFill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Char char="●"/>
            </a:pPr>
            <a:r>
              <a:rPr b="1" lang="en" sz="1100">
                <a:solidFill>
                  <a:schemeClr val="hlink"/>
                </a:solidFill>
              </a:rPr>
              <a:t>Existing systems lack health-aware, preference-driven recommendations</a:t>
            </a:r>
            <a:endParaRPr b="1" sz="1100">
              <a:solidFill>
                <a:schemeClr val="hlink"/>
              </a:solidFill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Char char="●"/>
            </a:pPr>
            <a:r>
              <a:rPr b="1" lang="en" sz="1100">
                <a:solidFill>
                  <a:schemeClr val="hlink"/>
                </a:solidFill>
              </a:rPr>
              <a:t>Goal: Predict diabetes risk and recommend recipes accordingly</a:t>
            </a:r>
            <a:endParaRPr sz="1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hlink"/>
                </a:solidFill>
              </a:rPr>
              <a:t>🔹 Approach Overview</a:t>
            </a:r>
            <a:endParaRPr b="1" sz="1300">
              <a:solidFill>
                <a:schemeClr val="hlink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Char char="●"/>
            </a:pPr>
            <a:r>
              <a:rPr b="1" lang="en" sz="1100">
                <a:solidFill>
                  <a:schemeClr val="hlink"/>
                </a:solidFill>
              </a:rPr>
              <a:t>Supervised ML</a:t>
            </a:r>
            <a:r>
              <a:rPr lang="en" sz="1100">
                <a:solidFill>
                  <a:schemeClr val="hlink"/>
                </a:solidFill>
              </a:rPr>
              <a:t> predicts diabetes from structured health data</a:t>
            </a:r>
            <a:endParaRPr sz="1100">
              <a:solidFill>
                <a:schemeClr val="hlink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Char char="●"/>
            </a:pPr>
            <a:r>
              <a:rPr b="1" lang="en" sz="1100">
                <a:solidFill>
                  <a:schemeClr val="hlink"/>
                </a:solidFill>
              </a:rPr>
              <a:t>LLM + MCP</a:t>
            </a:r>
            <a:r>
              <a:rPr lang="en" sz="1100">
                <a:solidFill>
                  <a:schemeClr val="hlink"/>
                </a:solidFill>
              </a:rPr>
              <a:t> extracts user food preferences from natural language</a:t>
            </a:r>
            <a:endParaRPr sz="1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0" name="Google Shape;250;p35"/>
          <p:cNvSpPr txBox="1"/>
          <p:nvPr>
            <p:ph idx="2" type="body"/>
          </p:nvPr>
        </p:nvSpPr>
        <p:spPr>
          <a:xfrm>
            <a:off x="6452200" y="196725"/>
            <a:ext cx="25692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CSYE 7380 - Theory &amp; Prac App AI Gen Model College of Engineering, Northeastern University </a:t>
            </a:r>
            <a:endParaRPr/>
          </a:p>
        </p:txBody>
      </p:sp>
      <p:sp>
        <p:nvSpPr>
          <p:cNvPr id="251" name="Google Shape;251;p35"/>
          <p:cNvSpPr txBox="1"/>
          <p:nvPr/>
        </p:nvSpPr>
        <p:spPr>
          <a:xfrm>
            <a:off x="516437" y="744789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Problem Understanding and Definition</a:t>
            </a:r>
            <a:endParaRPr b="1" sz="36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52" name="Google Shape;252;p35"/>
          <p:cNvSpPr txBox="1"/>
          <p:nvPr/>
        </p:nvSpPr>
        <p:spPr>
          <a:xfrm>
            <a:off x="516425" y="1370275"/>
            <a:ext cx="6790500" cy="27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hlink"/>
                </a:solidFill>
              </a:rPr>
              <a:t>🔹 Target Variable</a:t>
            </a:r>
            <a:endParaRPr b="1" sz="1300">
              <a:solidFill>
                <a:schemeClr val="hlink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Char char="●"/>
            </a:pPr>
            <a:r>
              <a:rPr b="1" lang="en" sz="1100">
                <a:solidFill>
                  <a:schemeClr val="hlink"/>
                </a:solidFill>
              </a:rPr>
              <a:t>Diabetes status：</a:t>
            </a:r>
            <a:r>
              <a:rPr lang="en" sz="1100">
                <a:solidFill>
                  <a:schemeClr val="hlink"/>
                </a:solidFill>
              </a:rPr>
              <a:t>Binary classification: 0 = non-diabetic, 1 = diabetic</a:t>
            </a:r>
            <a:endParaRPr sz="1100">
              <a:solidFill>
                <a:schemeClr val="hlink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Char char="●"/>
            </a:pPr>
            <a:r>
              <a:rPr b="1" lang="en" sz="1100">
                <a:solidFill>
                  <a:schemeClr val="hlink"/>
                </a:solidFill>
              </a:rPr>
              <a:t>food preference scores：</a:t>
            </a:r>
            <a:r>
              <a:rPr lang="en" sz="1100">
                <a:solidFill>
                  <a:schemeClr val="hlink"/>
                </a:solidFill>
              </a:rPr>
              <a:t> (per category, range: –5 to +5)</a:t>
            </a:r>
            <a:endParaRPr sz="1100">
              <a:solidFill>
                <a:schemeClr val="hlink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hlink"/>
                </a:solidFill>
              </a:rPr>
              <a:t>🔹 Key Features</a:t>
            </a:r>
            <a:endParaRPr b="1" sz="1300">
              <a:solidFill>
                <a:schemeClr val="hlink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Char char="●"/>
            </a:pPr>
            <a:r>
              <a:rPr lang="en" sz="1100">
                <a:solidFill>
                  <a:schemeClr val="hlink"/>
                </a:solidFill>
              </a:rPr>
              <a:t>Health data: Glucose, BMI, Age, Pregnancies</a:t>
            </a:r>
            <a:endParaRPr sz="1100">
              <a:solidFill>
                <a:schemeClr val="hlink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Char char="●"/>
            </a:pPr>
            <a:r>
              <a:rPr lang="en" sz="1100">
                <a:solidFill>
                  <a:schemeClr val="hlink"/>
                </a:solidFill>
              </a:rPr>
              <a:t>User intent: Processed via MCP to get structured food preference scores</a:t>
            </a:r>
            <a:endParaRPr sz="1100">
              <a:solidFill>
                <a:schemeClr val="hlink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hlink"/>
                </a:solidFill>
              </a:rPr>
              <a:t>🔹 Framing</a:t>
            </a:r>
            <a:endParaRPr b="1" sz="1300">
              <a:solidFill>
                <a:schemeClr val="hlink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Char char="●"/>
            </a:pPr>
            <a:r>
              <a:rPr b="1" lang="en" sz="1100">
                <a:solidFill>
                  <a:schemeClr val="hlink"/>
                </a:solidFill>
              </a:rPr>
              <a:t>Supervised Learning</a:t>
            </a:r>
            <a:r>
              <a:rPr lang="en" sz="1100">
                <a:solidFill>
                  <a:schemeClr val="hlink"/>
                </a:solidFill>
              </a:rPr>
              <a:t> for prediction</a:t>
            </a:r>
            <a:endParaRPr sz="1100">
              <a:solidFill>
                <a:schemeClr val="hlink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Char char="●"/>
            </a:pPr>
            <a:r>
              <a:rPr b="1" lang="en" sz="1100">
                <a:solidFill>
                  <a:schemeClr val="hlink"/>
                </a:solidFill>
              </a:rPr>
              <a:t>Prompt Engineering with MCP</a:t>
            </a:r>
            <a:r>
              <a:rPr lang="en" sz="1100">
                <a:solidFill>
                  <a:schemeClr val="hlink"/>
                </a:solidFill>
              </a:rPr>
              <a:t> for user input parsing and response generation</a:t>
            </a:r>
            <a:endParaRPr b="1" sz="1300">
              <a:solidFill>
                <a:schemeClr val="hlink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8" name="Google Shape;258;p36"/>
          <p:cNvSpPr txBox="1"/>
          <p:nvPr>
            <p:ph idx="2" type="body"/>
          </p:nvPr>
        </p:nvSpPr>
        <p:spPr>
          <a:xfrm>
            <a:off x="6452200" y="196725"/>
            <a:ext cx="25692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CSYE 7380 - Theory &amp; Prac App AI Gen Model College of Engineering, Northeastern University </a:t>
            </a:r>
            <a:endParaRPr/>
          </a:p>
        </p:txBody>
      </p:sp>
      <p:sp>
        <p:nvSpPr>
          <p:cNvPr id="259" name="Google Shape;259;p36"/>
          <p:cNvSpPr txBox="1"/>
          <p:nvPr/>
        </p:nvSpPr>
        <p:spPr>
          <a:xfrm>
            <a:off x="516437" y="744789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Model/Framework Selection &amp; Implementation</a:t>
            </a:r>
            <a:endParaRPr b="1" sz="36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60" name="Google Shape;260;p36"/>
          <p:cNvSpPr txBox="1"/>
          <p:nvPr/>
        </p:nvSpPr>
        <p:spPr>
          <a:xfrm>
            <a:off x="516425" y="1370275"/>
            <a:ext cx="6790500" cy="27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hlink"/>
                </a:solidFill>
              </a:rPr>
              <a:t>🔹 ML Pipeline for Diabetes Prediction</a:t>
            </a:r>
            <a:endParaRPr b="1" sz="1300">
              <a:solidFill>
                <a:schemeClr val="hlink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Char char="●"/>
            </a:pPr>
            <a:r>
              <a:rPr lang="en" sz="1100">
                <a:solidFill>
                  <a:schemeClr val="hlink"/>
                </a:solidFill>
              </a:rPr>
              <a:t>Models: SVM, RF, MLP, Logistic, etc.</a:t>
            </a:r>
            <a:br>
              <a:rPr lang="en" sz="1100">
                <a:solidFill>
                  <a:schemeClr val="hlink"/>
                </a:solidFill>
              </a:rPr>
            </a:br>
            <a:endParaRPr sz="1100">
              <a:solidFill>
                <a:schemeClr val="hlink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Char char="●"/>
            </a:pPr>
            <a:r>
              <a:rPr lang="en" sz="1100">
                <a:solidFill>
                  <a:schemeClr val="hlink"/>
                </a:solidFill>
              </a:rPr>
              <a:t>Ensemble via soft voting + stacking</a:t>
            </a:r>
            <a:br>
              <a:rPr lang="en" sz="1100">
                <a:solidFill>
                  <a:schemeClr val="hlink"/>
                </a:solidFill>
              </a:rPr>
            </a:br>
            <a:endParaRPr sz="1100">
              <a:solidFill>
                <a:schemeClr val="hlink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Char char="●"/>
            </a:pPr>
            <a:r>
              <a:rPr lang="en" sz="1100">
                <a:solidFill>
                  <a:schemeClr val="hlink"/>
                </a:solidFill>
              </a:rPr>
              <a:t>SMOTE for class balancing</a:t>
            </a:r>
            <a:endParaRPr sz="1100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hlink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6" name="Google Shape;266;p37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Ensemble via soft voting + stacking</a:t>
            </a:r>
            <a:endParaRPr/>
          </a:p>
        </p:txBody>
      </p:sp>
      <p:sp>
        <p:nvSpPr>
          <p:cNvPr id="267" name="Google Shape;267;p37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Ensemble models outperform single classifiers in AUC and AUPR, providing more reliable predictions.</a:t>
            </a:r>
            <a:endParaRPr/>
          </a:p>
        </p:txBody>
      </p:sp>
      <p:sp>
        <p:nvSpPr>
          <p:cNvPr id="268" name="Google Shape;268;p37"/>
          <p:cNvSpPr txBox="1"/>
          <p:nvPr>
            <p:ph idx="3" type="body"/>
          </p:nvPr>
        </p:nvSpPr>
        <p:spPr>
          <a:xfrm>
            <a:off x="6589150" y="196725"/>
            <a:ext cx="24318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CSYE 7380 - Theory &amp; Prac App AI Gen Model College of Engineering, Northeastern University</a:t>
            </a:r>
            <a:endParaRPr/>
          </a:p>
        </p:txBody>
      </p:sp>
      <p:pic>
        <p:nvPicPr>
          <p:cNvPr id="269" name="Google Shape;26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8700" y="1143000"/>
            <a:ext cx="4835300" cy="288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5" name="Google Shape;275;p38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SMOTE for class balancing</a:t>
            </a:r>
            <a:endParaRPr/>
          </a:p>
        </p:txBody>
      </p:sp>
      <p:sp>
        <p:nvSpPr>
          <p:cNvPr id="276" name="Google Shape;276;p38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SMOTE (Synthetic Minority Over-sampling Technique) helps balance the dataset by generating synthetic samples for the minority class, improving model performance on imbalanced data.</a:t>
            </a:r>
            <a:endParaRPr sz="1200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7" name="Google Shape;277;p38"/>
          <p:cNvSpPr txBox="1"/>
          <p:nvPr>
            <p:ph idx="3" type="body"/>
          </p:nvPr>
        </p:nvSpPr>
        <p:spPr>
          <a:xfrm>
            <a:off x="6589150" y="196725"/>
            <a:ext cx="24318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CSYE 7380 - Theory &amp; Prac App AI Gen Model College of Engineering, Northeastern University</a:t>
            </a:r>
            <a:endParaRPr/>
          </a:p>
        </p:txBody>
      </p:sp>
      <p:pic>
        <p:nvPicPr>
          <p:cNvPr id="278" name="Google Shape;27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6600" y="1474050"/>
            <a:ext cx="5490027" cy="21953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4" name="Google Shape;284;p39"/>
          <p:cNvSpPr txBox="1"/>
          <p:nvPr>
            <p:ph idx="2" type="body"/>
          </p:nvPr>
        </p:nvSpPr>
        <p:spPr>
          <a:xfrm>
            <a:off x="6452200" y="196725"/>
            <a:ext cx="25692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CSYE 7380 - Theory &amp; Prac App AI Gen Model College of Engineering, Northeastern University </a:t>
            </a:r>
            <a:endParaRPr/>
          </a:p>
        </p:txBody>
      </p:sp>
      <p:sp>
        <p:nvSpPr>
          <p:cNvPr id="285" name="Google Shape;285;p39"/>
          <p:cNvSpPr txBox="1"/>
          <p:nvPr/>
        </p:nvSpPr>
        <p:spPr>
          <a:xfrm>
            <a:off x="516437" y="744789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Model/Framework Selection &amp; Implementation</a:t>
            </a:r>
            <a:endParaRPr b="1" sz="36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86" name="Google Shape;286;p39"/>
          <p:cNvSpPr txBox="1"/>
          <p:nvPr/>
        </p:nvSpPr>
        <p:spPr>
          <a:xfrm>
            <a:off x="516425" y="1370275"/>
            <a:ext cx="6790500" cy="27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hlink"/>
                </a:solidFill>
              </a:rPr>
              <a:t>🔹 LLM for User Preference Extraction</a:t>
            </a:r>
            <a:endParaRPr b="1" sz="1300">
              <a:solidFill>
                <a:schemeClr val="hlink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Char char="●"/>
            </a:pPr>
            <a:r>
              <a:rPr lang="en" sz="1100">
                <a:solidFill>
                  <a:schemeClr val="hlink"/>
                </a:solidFill>
              </a:rPr>
              <a:t>GPT-based model parses natural language</a:t>
            </a:r>
            <a:br>
              <a:rPr lang="en" sz="1100">
                <a:solidFill>
                  <a:schemeClr val="hlink"/>
                </a:solidFill>
              </a:rPr>
            </a:br>
            <a:endParaRPr sz="1100">
              <a:solidFill>
                <a:schemeClr val="hlink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Char char="●"/>
            </a:pPr>
            <a:r>
              <a:rPr b="1" lang="en" sz="1100">
                <a:solidFill>
                  <a:schemeClr val="hlink"/>
                </a:solidFill>
              </a:rPr>
              <a:t>MCP</a:t>
            </a:r>
            <a:r>
              <a:rPr lang="en" sz="1100">
                <a:solidFill>
                  <a:schemeClr val="hlink"/>
                </a:solidFill>
              </a:rPr>
              <a:t> ensures structured, controllable output</a:t>
            </a:r>
            <a:br>
              <a:rPr lang="en" sz="1100">
                <a:solidFill>
                  <a:schemeClr val="hlink"/>
                </a:solidFill>
              </a:rPr>
            </a:br>
            <a:endParaRPr sz="1100">
              <a:solidFill>
                <a:schemeClr val="hlink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Char char="●"/>
            </a:pPr>
            <a:r>
              <a:rPr lang="en" sz="1100">
                <a:solidFill>
                  <a:schemeClr val="hlink"/>
                </a:solidFill>
              </a:rPr>
              <a:t>Returns scores for 13 food categories (–5 to +5)</a:t>
            </a:r>
            <a:endParaRPr sz="1100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hlink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2" name="Google Shape;292;p40"/>
          <p:cNvSpPr txBox="1"/>
          <p:nvPr>
            <p:ph idx="2" type="body"/>
          </p:nvPr>
        </p:nvSpPr>
        <p:spPr>
          <a:xfrm>
            <a:off x="6452200" y="196725"/>
            <a:ext cx="25692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CSYE 7380 - Theory &amp; Prac App AI Gen Model College of Engineering, Northeastern University </a:t>
            </a:r>
            <a:endParaRPr/>
          </a:p>
        </p:txBody>
      </p:sp>
      <p:sp>
        <p:nvSpPr>
          <p:cNvPr id="293" name="Google Shape;293;p40"/>
          <p:cNvSpPr txBox="1"/>
          <p:nvPr/>
        </p:nvSpPr>
        <p:spPr>
          <a:xfrm>
            <a:off x="516437" y="744789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Model/Framework Selection &amp; Implementation</a:t>
            </a:r>
            <a:endParaRPr b="1" sz="36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94" name="Google Shape;294;p40"/>
          <p:cNvSpPr txBox="1"/>
          <p:nvPr/>
        </p:nvSpPr>
        <p:spPr>
          <a:xfrm>
            <a:off x="516425" y="1370275"/>
            <a:ext cx="6790500" cy="27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hlink"/>
                </a:solidFill>
              </a:rPr>
              <a:t>🔹 Workflow Integration</a:t>
            </a:r>
            <a:endParaRPr b="1" sz="1300">
              <a:solidFill>
                <a:schemeClr val="hlink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Char char="●"/>
            </a:pPr>
            <a:r>
              <a:rPr lang="en" sz="1100">
                <a:solidFill>
                  <a:schemeClr val="hlink"/>
                </a:solidFill>
              </a:rPr>
              <a:t>ML prediction → preference scoring → recipe filtering</a:t>
            </a:r>
            <a:endParaRPr sz="1100">
              <a:solidFill>
                <a:schemeClr val="hlink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Char char="●"/>
            </a:pPr>
            <a:r>
              <a:rPr lang="en" sz="1100">
                <a:solidFill>
                  <a:schemeClr val="hlink"/>
                </a:solidFill>
              </a:rPr>
              <a:t>Joint decision logic for final recommendation</a:t>
            </a:r>
            <a:br>
              <a:rPr lang="en" sz="1100">
                <a:solidFill>
                  <a:schemeClr val="hlink"/>
                </a:solidFill>
              </a:rPr>
            </a:br>
            <a:endParaRPr sz="1100">
              <a:solidFill>
                <a:schemeClr val="hlink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hlink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hlink"/>
                </a:solidFill>
              </a:rPr>
              <a:t>🔹 Programming Stack</a:t>
            </a:r>
            <a:endParaRPr b="1" sz="1300">
              <a:solidFill>
                <a:schemeClr val="hlink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Char char="●"/>
            </a:pPr>
            <a:r>
              <a:rPr lang="en" sz="1100">
                <a:solidFill>
                  <a:schemeClr val="hlink"/>
                </a:solidFill>
              </a:rPr>
              <a:t>Python, Scikit-learn, imbalanced-learn</a:t>
            </a:r>
            <a:endParaRPr sz="1100">
              <a:solidFill>
                <a:schemeClr val="hlink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Char char="●"/>
            </a:pPr>
            <a:r>
              <a:rPr lang="en" sz="1100">
                <a:solidFill>
                  <a:schemeClr val="hlink"/>
                </a:solidFill>
              </a:rPr>
              <a:t>OpenAI API for LLM</a:t>
            </a:r>
            <a:endParaRPr sz="1100">
              <a:solidFill>
                <a:schemeClr val="hlink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Char char="●"/>
            </a:pPr>
            <a:r>
              <a:rPr lang="en" sz="1100">
                <a:solidFill>
                  <a:schemeClr val="hlink"/>
                </a:solidFill>
              </a:rPr>
              <a:t>GUI built with Gradio</a:t>
            </a:r>
            <a:endParaRPr b="1" sz="1300">
              <a:solidFill>
                <a:schemeClr val="hlink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0" name="Google Shape;300;p41"/>
          <p:cNvSpPr txBox="1"/>
          <p:nvPr>
            <p:ph idx="2" type="body"/>
          </p:nvPr>
        </p:nvSpPr>
        <p:spPr>
          <a:xfrm>
            <a:off x="6452200" y="196725"/>
            <a:ext cx="25692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CSYE 7380 - Theory &amp; Prac App AI Gen Model College of Engineering, Northeastern University </a:t>
            </a:r>
            <a:endParaRPr/>
          </a:p>
        </p:txBody>
      </p:sp>
      <p:sp>
        <p:nvSpPr>
          <p:cNvPr id="301" name="Google Shape;301;p41"/>
          <p:cNvSpPr txBox="1"/>
          <p:nvPr/>
        </p:nvSpPr>
        <p:spPr>
          <a:xfrm>
            <a:off x="516437" y="744789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Model Interpretation（Machine Learning）</a:t>
            </a:r>
            <a:endParaRPr b="1" sz="36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02" name="Google Shape;302;p41"/>
          <p:cNvSpPr txBox="1"/>
          <p:nvPr/>
        </p:nvSpPr>
        <p:spPr>
          <a:xfrm>
            <a:off x="516425" y="1370275"/>
            <a:ext cx="6790500" cy="27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hlink"/>
                </a:solidFill>
              </a:rPr>
              <a:t>🔹 Model Performance</a:t>
            </a:r>
            <a:endParaRPr b="1" sz="1300">
              <a:solidFill>
                <a:schemeClr val="hlink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Char char="●"/>
            </a:pPr>
            <a:r>
              <a:rPr lang="en" sz="1100">
                <a:solidFill>
                  <a:schemeClr val="hlink"/>
                </a:solidFill>
              </a:rPr>
              <a:t>Removed low-correlation features ( |r| &lt; 0.2)</a:t>
            </a:r>
            <a:br>
              <a:rPr lang="en" sz="1100">
                <a:solidFill>
                  <a:schemeClr val="hlink"/>
                </a:solidFill>
              </a:rPr>
            </a:br>
            <a:endParaRPr sz="1100">
              <a:solidFill>
                <a:schemeClr val="hlink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Char char="●"/>
            </a:pPr>
            <a:r>
              <a:rPr lang="en" sz="1100">
                <a:solidFill>
                  <a:schemeClr val="hlink"/>
                </a:solidFill>
              </a:rPr>
              <a:t>Ensemble models outperform individual ones in both AUC and AUPR</a:t>
            </a:r>
            <a:br>
              <a:rPr lang="en" sz="1100">
                <a:solidFill>
                  <a:schemeClr val="hlink"/>
                </a:solidFill>
              </a:rPr>
            </a:br>
            <a:endParaRPr sz="1100">
              <a:solidFill>
                <a:schemeClr val="hlink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Char char="●"/>
            </a:pPr>
            <a:r>
              <a:rPr lang="en" sz="1100">
                <a:solidFill>
                  <a:schemeClr val="hlink"/>
                </a:solidFill>
              </a:rPr>
              <a:t>Stacking improves prediction stability across folds</a:t>
            </a:r>
            <a:br>
              <a:rPr lang="en" sz="1100">
                <a:solidFill>
                  <a:schemeClr val="hlink"/>
                </a:solidFill>
              </a:rPr>
            </a:br>
            <a:endParaRPr sz="1100">
              <a:solidFill>
                <a:schemeClr val="hlink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Char char="●"/>
            </a:pPr>
            <a:r>
              <a:rPr lang="en" sz="1100">
                <a:solidFill>
                  <a:schemeClr val="hlink"/>
                </a:solidFill>
              </a:rPr>
              <a:t>SMOTE enhances recall for minority (diabetic) class</a:t>
            </a:r>
            <a:endParaRPr sz="1100">
              <a:solidFill>
                <a:schemeClr val="hlink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300">
              <a:solidFill>
                <a:schemeClr val="hlink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8" name="Google Shape;308;p42"/>
          <p:cNvSpPr txBox="1"/>
          <p:nvPr>
            <p:ph idx="2" type="body"/>
          </p:nvPr>
        </p:nvSpPr>
        <p:spPr>
          <a:xfrm>
            <a:off x="6452200" y="196725"/>
            <a:ext cx="25692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CSYE 7380 - Theory &amp; Prac App AI Gen Model College of Engineering, Northeastern University </a:t>
            </a:r>
            <a:endParaRPr/>
          </a:p>
        </p:txBody>
      </p:sp>
      <p:sp>
        <p:nvSpPr>
          <p:cNvPr id="309" name="Google Shape;309;p42"/>
          <p:cNvSpPr txBox="1"/>
          <p:nvPr/>
        </p:nvSpPr>
        <p:spPr>
          <a:xfrm>
            <a:off x="516437" y="744789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Model Interpretation（</a:t>
            </a:r>
            <a:r>
              <a:rPr b="1" lang="en" sz="22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LLM + MCP</a:t>
            </a:r>
            <a:r>
              <a:rPr b="1" lang="en" sz="22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）</a:t>
            </a:r>
            <a:endParaRPr b="1" sz="36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10" name="Google Shape;310;p42"/>
          <p:cNvSpPr txBox="1"/>
          <p:nvPr/>
        </p:nvSpPr>
        <p:spPr>
          <a:xfrm>
            <a:off x="516425" y="1370275"/>
            <a:ext cx="6790500" cy="27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hlink"/>
                </a:solidFill>
              </a:rPr>
              <a:t>🔹 Interpretable Output from LLM</a:t>
            </a:r>
            <a:endParaRPr b="1" sz="1300">
              <a:solidFill>
                <a:schemeClr val="hlink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Char char="●"/>
            </a:pPr>
            <a:r>
              <a:rPr lang="en" sz="1100">
                <a:solidFill>
                  <a:schemeClr val="hlink"/>
                </a:solidFill>
              </a:rPr>
              <a:t>MCP ensures structured, score-based food preference output</a:t>
            </a:r>
            <a:br>
              <a:rPr lang="en" sz="1100">
                <a:solidFill>
                  <a:schemeClr val="hlink"/>
                </a:solidFill>
              </a:rPr>
            </a:br>
            <a:endParaRPr sz="1100">
              <a:solidFill>
                <a:schemeClr val="hlink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Char char="●"/>
            </a:pPr>
            <a:r>
              <a:rPr lang="en" sz="1100">
                <a:solidFill>
                  <a:schemeClr val="hlink"/>
                </a:solidFill>
              </a:rPr>
              <a:t>Category scores (–5 to +5) reflect user intent clearly</a:t>
            </a:r>
            <a:br>
              <a:rPr lang="en" sz="1100">
                <a:solidFill>
                  <a:schemeClr val="hlink"/>
                </a:solidFill>
              </a:rPr>
            </a:br>
            <a:endParaRPr sz="1100">
              <a:solidFill>
                <a:schemeClr val="hlink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Char char="●"/>
            </a:pPr>
            <a:r>
              <a:rPr lang="en" sz="1100">
                <a:solidFill>
                  <a:schemeClr val="hlink"/>
                </a:solidFill>
              </a:rPr>
              <a:t>Includes reasoning to explain recommendations</a:t>
            </a:r>
            <a:endParaRPr b="1" sz="1300">
              <a:solidFill>
                <a:schemeClr val="hlink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6" name="Google Shape;316;p43"/>
          <p:cNvSpPr txBox="1"/>
          <p:nvPr>
            <p:ph idx="2" type="body"/>
          </p:nvPr>
        </p:nvSpPr>
        <p:spPr>
          <a:xfrm>
            <a:off x="6452200" y="196725"/>
            <a:ext cx="25692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CSYE 7380 - Theory &amp; Prac App AI Gen Model College of Engineering, Northeastern University </a:t>
            </a:r>
            <a:endParaRPr/>
          </a:p>
        </p:txBody>
      </p:sp>
      <p:sp>
        <p:nvSpPr>
          <p:cNvPr id="317" name="Google Shape;317;p43"/>
          <p:cNvSpPr txBox="1"/>
          <p:nvPr/>
        </p:nvSpPr>
        <p:spPr>
          <a:xfrm>
            <a:off x="516437" y="744789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Model Interpretation（</a:t>
            </a:r>
            <a:r>
              <a:rPr b="1" lang="en" sz="22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apps use cases</a:t>
            </a:r>
            <a:r>
              <a:rPr b="1" lang="en" sz="22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）</a:t>
            </a:r>
            <a:endParaRPr b="1" sz="36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18" name="Google Shape;318;p43"/>
          <p:cNvSpPr txBox="1"/>
          <p:nvPr/>
        </p:nvSpPr>
        <p:spPr>
          <a:xfrm>
            <a:off x="516425" y="1370275"/>
            <a:ext cx="6790500" cy="27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hlink"/>
                </a:solidFill>
              </a:rPr>
              <a:t>🔹 User-Facing Explanation via GUI</a:t>
            </a:r>
            <a:endParaRPr b="1" sz="1300">
              <a:solidFill>
                <a:schemeClr val="hlink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Char char="●"/>
            </a:pPr>
            <a:r>
              <a:rPr lang="en" sz="1100">
                <a:solidFill>
                  <a:schemeClr val="hlink"/>
                </a:solidFill>
              </a:rPr>
              <a:t>GUI shows predicted risk and recommended recipes</a:t>
            </a:r>
            <a:br>
              <a:rPr lang="en" sz="1100">
                <a:solidFill>
                  <a:schemeClr val="hlink"/>
                </a:solidFill>
              </a:rPr>
            </a:br>
            <a:endParaRPr sz="1100">
              <a:solidFill>
                <a:schemeClr val="hlink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Char char="●"/>
            </a:pPr>
            <a:r>
              <a:rPr lang="en" sz="1100">
                <a:solidFill>
                  <a:schemeClr val="hlink"/>
                </a:solidFill>
              </a:rPr>
              <a:t>Clearly separates suitable and not-suitable options</a:t>
            </a:r>
            <a:br>
              <a:rPr lang="en" sz="1100">
                <a:solidFill>
                  <a:schemeClr val="hlink"/>
                </a:solidFill>
              </a:rPr>
            </a:br>
            <a:endParaRPr sz="1100">
              <a:solidFill>
                <a:schemeClr val="hlink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Char char="●"/>
            </a:pPr>
            <a:r>
              <a:rPr lang="en" sz="1100">
                <a:solidFill>
                  <a:schemeClr val="hlink"/>
                </a:solidFill>
              </a:rPr>
              <a:t>Enhances transparency for end users</a:t>
            </a:r>
            <a:endParaRPr sz="1100">
              <a:solidFill>
                <a:schemeClr val="hlink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300">
              <a:solidFill>
                <a:schemeClr val="hlink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4" name="Google Shape;324;p44"/>
          <p:cNvSpPr txBox="1"/>
          <p:nvPr>
            <p:ph idx="2" type="body"/>
          </p:nvPr>
        </p:nvSpPr>
        <p:spPr>
          <a:xfrm>
            <a:off x="6452200" y="196725"/>
            <a:ext cx="25692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CSYE 7380 - Theory &amp; Prac App AI Gen Model College of Engineering, Northeastern University </a:t>
            </a:r>
            <a:endParaRPr/>
          </a:p>
        </p:txBody>
      </p:sp>
      <p:sp>
        <p:nvSpPr>
          <p:cNvPr id="325" name="Google Shape;325;p44"/>
          <p:cNvSpPr txBox="1"/>
          <p:nvPr/>
        </p:nvSpPr>
        <p:spPr>
          <a:xfrm>
            <a:off x="516437" y="744789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22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Creativity and Innovation</a:t>
            </a:r>
            <a:endParaRPr b="1" sz="36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26" name="Google Shape;326;p44"/>
          <p:cNvSpPr txBox="1"/>
          <p:nvPr/>
        </p:nvSpPr>
        <p:spPr>
          <a:xfrm>
            <a:off x="516425" y="1370275"/>
            <a:ext cx="6790500" cy="36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hlink"/>
                </a:solidFill>
              </a:rPr>
              <a:t>🔹 MCP + LLM Preference Scoring</a:t>
            </a:r>
            <a:endParaRPr b="1" sz="1300">
              <a:solidFill>
                <a:schemeClr val="hlink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Char char="●"/>
            </a:pPr>
            <a:r>
              <a:rPr lang="en" sz="1100">
                <a:solidFill>
                  <a:schemeClr val="hlink"/>
                </a:solidFill>
              </a:rPr>
              <a:t>Used </a:t>
            </a:r>
            <a:r>
              <a:rPr b="1" lang="en" sz="1100">
                <a:solidFill>
                  <a:schemeClr val="hlink"/>
                </a:solidFill>
              </a:rPr>
              <a:t>Model Context Protocol</a:t>
            </a:r>
            <a:r>
              <a:rPr lang="en" sz="1100">
                <a:solidFill>
                  <a:schemeClr val="hlink"/>
                </a:solidFill>
              </a:rPr>
              <a:t> to extract structured scores from natural language</a:t>
            </a:r>
            <a:endParaRPr sz="1100">
              <a:solidFill>
                <a:schemeClr val="hlink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Char char="●"/>
            </a:pPr>
            <a:r>
              <a:rPr lang="en" sz="1100">
                <a:solidFill>
                  <a:schemeClr val="hlink"/>
                </a:solidFill>
              </a:rPr>
              <a:t>Enables controllable, explainable generative output – beyond simple prompting</a:t>
            </a:r>
            <a:endParaRPr sz="1100">
              <a:solidFill>
                <a:schemeClr val="hlink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hlink"/>
                </a:solidFill>
              </a:rPr>
              <a:t>🔹 Two-Stage Recommendation Logic</a:t>
            </a:r>
            <a:endParaRPr b="1" sz="1300">
              <a:solidFill>
                <a:schemeClr val="hlink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Char char="●"/>
            </a:pPr>
            <a:r>
              <a:rPr lang="en" sz="1100">
                <a:solidFill>
                  <a:schemeClr val="hlink"/>
                </a:solidFill>
              </a:rPr>
              <a:t>Combined ML-based health risk prediction with LLM-based user intent parsing</a:t>
            </a:r>
            <a:endParaRPr sz="1100">
              <a:solidFill>
                <a:schemeClr val="hlink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Char char="●"/>
            </a:pPr>
            <a:r>
              <a:rPr lang="en" sz="1100">
                <a:solidFill>
                  <a:schemeClr val="hlink"/>
                </a:solidFill>
              </a:rPr>
              <a:t>Joint scoring mechanism ensures both health-aware and preference-driven filtering</a:t>
            </a:r>
            <a:endParaRPr sz="1100">
              <a:solidFill>
                <a:schemeClr val="hlink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hlink"/>
                </a:solidFill>
              </a:rPr>
              <a:t>🔹 Diabetic-Specific Recipe Filtering</a:t>
            </a:r>
            <a:endParaRPr b="1" sz="1300">
              <a:solidFill>
                <a:schemeClr val="hlink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Char char="●"/>
            </a:pPr>
            <a:r>
              <a:rPr lang="en" sz="1100">
                <a:solidFill>
                  <a:schemeClr val="hlink"/>
                </a:solidFill>
              </a:rPr>
              <a:t>Added logic to </a:t>
            </a:r>
            <a:r>
              <a:rPr b="1" lang="en" sz="1100">
                <a:solidFill>
                  <a:schemeClr val="hlink"/>
                </a:solidFill>
              </a:rPr>
              <a:t>flag and display “not suitable” recipes</a:t>
            </a:r>
            <a:r>
              <a:rPr lang="en" sz="1100">
                <a:solidFill>
                  <a:schemeClr val="hlink"/>
                </a:solidFill>
              </a:rPr>
              <a:t> for awareness</a:t>
            </a:r>
            <a:endParaRPr sz="1100">
              <a:solidFill>
                <a:schemeClr val="hlink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Char char="●"/>
            </a:pPr>
            <a:r>
              <a:rPr lang="en" sz="1100">
                <a:solidFill>
                  <a:schemeClr val="hlink"/>
                </a:solidFill>
              </a:rPr>
              <a:t>Rarely seen in typical recommendation systems</a:t>
            </a:r>
            <a:endParaRPr sz="1100">
              <a:solidFill>
                <a:schemeClr val="hlink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hlink"/>
                </a:solidFill>
              </a:rPr>
              <a:t>🔹 Fully Functional GUI</a:t>
            </a:r>
            <a:endParaRPr b="1" sz="1300">
              <a:solidFill>
                <a:schemeClr val="hlink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Char char="●"/>
            </a:pPr>
            <a:r>
              <a:rPr lang="en" sz="1100">
                <a:solidFill>
                  <a:schemeClr val="hlink"/>
                </a:solidFill>
              </a:rPr>
              <a:t>Built an interface that non-technical users can interact with</a:t>
            </a:r>
            <a:endParaRPr sz="1100">
              <a:solidFill>
                <a:schemeClr val="hlink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Char char="●"/>
            </a:pPr>
            <a:r>
              <a:rPr lang="en" sz="1100">
                <a:solidFill>
                  <a:schemeClr val="hlink"/>
                </a:solidFill>
              </a:rPr>
              <a:t>Integrates ML, LLM, and recommendation results in one place</a:t>
            </a:r>
            <a:br>
              <a:rPr lang="en" sz="1100">
                <a:solidFill>
                  <a:schemeClr val="hlink"/>
                </a:solidFill>
              </a:rPr>
            </a:br>
            <a:endParaRPr sz="1100">
              <a:solidFill>
                <a:schemeClr val="hlink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hlink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300">
              <a:solidFill>
                <a:schemeClr val="hlink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2" name="Google Shape;332;p45"/>
          <p:cNvSpPr txBox="1"/>
          <p:nvPr>
            <p:ph idx="1" type="subTitle"/>
          </p:nvPr>
        </p:nvSpPr>
        <p:spPr>
          <a:xfrm>
            <a:off x="975300" y="1864050"/>
            <a:ext cx="7193400" cy="115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 for Your Attention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45"/>
          <p:cNvSpPr txBox="1"/>
          <p:nvPr/>
        </p:nvSpPr>
        <p:spPr>
          <a:xfrm>
            <a:off x="1660075" y="2571750"/>
            <a:ext cx="54276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cience Presentation">
  <a:themeElements>
    <a:clrScheme name="Simple Light">
      <a:dk1>
        <a:srgbClr val="005088"/>
      </a:dk1>
      <a:lt1>
        <a:srgbClr val="F3F0DF"/>
      </a:lt1>
      <a:dk2>
        <a:srgbClr val="121212"/>
      </a:dk2>
      <a:lt2>
        <a:srgbClr val="D0E0E3"/>
      </a:lt2>
      <a:accent1>
        <a:srgbClr val="11CAA0"/>
      </a:accent1>
      <a:accent2>
        <a:srgbClr val="6D6D6B"/>
      </a:accent2>
      <a:accent3>
        <a:srgbClr val="FFFFFF"/>
      </a:accent3>
      <a:accent4>
        <a:srgbClr val="656839"/>
      </a:accent4>
      <a:accent5>
        <a:srgbClr val="774936"/>
      </a:accent5>
      <a:accent6>
        <a:srgbClr val="C492B1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