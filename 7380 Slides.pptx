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  <p:sldId id="272" r:id="rId10"/>
    <p:sldId id="273" r:id="rId11"/>
    <p:sldId id="274" r:id="rId12"/>
    <p:sldId id="266" r:id="rId13"/>
    <p:sldId id="267" r:id="rId14"/>
    <p:sldId id="268" r:id="rId15"/>
    <p:sldId id="269" r:id="rId16"/>
  </p:sldIdLst>
  <p:sldSz cx="9144000" cy="5143500" type="screen16x9"/>
  <p:notesSz cx="6858000" cy="9144000"/>
  <p:embeddedFontLst>
    <p:embeddedFont>
      <p:font typeface="DM Sans" pitchFamily="2" charset="0"/>
      <p:regular r:id="rId18"/>
      <p:bold r:id="rId19"/>
      <p:italic r:id="rId20"/>
      <p:boldItalic r:id="rId21"/>
    </p:embeddedFont>
    <p:embeddedFont>
      <p:font typeface="DM Sans Medium" pitchFamily="2" charset="0"/>
      <p:regular r:id="rId22"/>
      <p:bold r:id="rId23"/>
      <p:italic r:id="rId24"/>
      <p:boldItalic r:id="rId25"/>
    </p:embeddedFont>
    <p:embeddedFont>
      <p:font typeface="Merriweather" panose="00000500000000000000" pitchFamily="2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C9F4"/>
    <a:srgbClr val="00CCFF"/>
    <a:srgbClr val="D0E0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1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62" y="16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4073f53f9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4073f53f9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4073f53f9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4073f53f9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073f53f99_1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073f53f99_1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4073f53f99_1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4073f53f99_1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4073f53f99_1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4073f53f99_1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4073f53f99_1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4073f53f99_1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4073f53f99_1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4073f53f99_1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4073f53f99_1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4073f53f99_1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>
          <a:extLst>
            <a:ext uri="{FF2B5EF4-FFF2-40B4-BE49-F238E27FC236}">
              <a16:creationId xmlns:a16="http://schemas.microsoft.com/office/drawing/2014/main" id="{82ACDCE9-E61B-7C6C-E07F-9C8339914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4073f53f99_1_200:notes">
            <a:extLst>
              <a:ext uri="{FF2B5EF4-FFF2-40B4-BE49-F238E27FC236}">
                <a16:creationId xmlns:a16="http://schemas.microsoft.com/office/drawing/2014/main" id="{E8EFE1C7-1031-514A-95B7-235C6480FD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4073f53f99_1_200:notes">
            <a:extLst>
              <a:ext uri="{FF2B5EF4-FFF2-40B4-BE49-F238E27FC236}">
                <a16:creationId xmlns:a16="http://schemas.microsoft.com/office/drawing/2014/main" id="{DD65BC7A-2302-FEEB-8235-7285F82D59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56357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>
          <a:extLst>
            <a:ext uri="{FF2B5EF4-FFF2-40B4-BE49-F238E27FC236}">
              <a16:creationId xmlns:a16="http://schemas.microsoft.com/office/drawing/2014/main" id="{7F1ED3AB-9842-B1F8-54FA-FFD73479D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4073f53f99_1_200:notes">
            <a:extLst>
              <a:ext uri="{FF2B5EF4-FFF2-40B4-BE49-F238E27FC236}">
                <a16:creationId xmlns:a16="http://schemas.microsoft.com/office/drawing/2014/main" id="{8C9A20E3-C0EE-1000-C526-7E9FA7127F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4073f53f99_1_200:notes">
            <a:extLst>
              <a:ext uri="{FF2B5EF4-FFF2-40B4-BE49-F238E27FC236}">
                <a16:creationId xmlns:a16="http://schemas.microsoft.com/office/drawing/2014/main" id="{5A5C1E7C-1E03-AA48-D17B-06D1AE6666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41676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>
          <a:extLst>
            <a:ext uri="{FF2B5EF4-FFF2-40B4-BE49-F238E27FC236}">
              <a16:creationId xmlns:a16="http://schemas.microsoft.com/office/drawing/2014/main" id="{988190D9-4060-AFE0-32C4-9EA97A691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4073f53f99_1_200:notes">
            <a:extLst>
              <a:ext uri="{FF2B5EF4-FFF2-40B4-BE49-F238E27FC236}">
                <a16:creationId xmlns:a16="http://schemas.microsoft.com/office/drawing/2014/main" id="{27873112-F9FD-BE32-5272-C20B100BF5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4073f53f99_1_200:notes">
            <a:extLst>
              <a:ext uri="{FF2B5EF4-FFF2-40B4-BE49-F238E27FC236}">
                <a16:creationId xmlns:a16="http://schemas.microsoft.com/office/drawing/2014/main" id="{B7C45506-3173-6162-DCD6-5D3EFAB44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9194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4073f53f99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4073f53f99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4073f53f99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4073f53f99_1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4073f53f99_1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4073f53f99_1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4073f53f99_1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4073f53f99_1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_4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>
  <p:cSld name="SECTION_HEADER_1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body">
  <p:cSld name="TITLE_AND_BODY_1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two columns">
  <p:cSld name="TITLE_AND_TWO_COLUMNS_1_1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">
  <p:cSld name="TITLE_ONLY_1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One column text">
  <p:cSld name="ONE_COLUMN_TEXT_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Main point">
  <p:cSld name="MAIN_POINT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ption">
  <p:cSld name="CAPTION_ONLY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ig number">
  <p:cSld name="BIG_NUMBER_1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 algn="ctr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genda">
  <p:cSld name="CUSTOM_7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, body and image">
  <p:cSld name="CUSTOM_8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14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big ideas">
  <p:cSld name="CUSTOM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ree big ideas">
  <p:cSld name="CUSTOM_2_2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3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ubTitle" idx="4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5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subTitle" idx="6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our big ideas">
  <p:cSld name="CUSTOM_3_1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8" name="Google Shape;88;p17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9" name="Google Shape;89;p17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image">
  <p:cSld name="TITLE_ONLY_1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8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storyboards">
  <p:cSld name="CUSTOM_4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" name="Google Shape;97;p19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" name="Google Shape;98;p19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" name="Google Shape;99;p19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" name="Google Shape;100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1" name="Google Shape;10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9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ree storyboards">
  <p:cSld name="CUSTOM_4_1_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6" name="Google Shape;106;p20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20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20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9" name="Google Shape;109;p20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20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11" name="Google Shape;111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" name="Google Shape;112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0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4" name="Google Shape;114;p20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5" name="Google Shape;115;p20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 only">
  <p:cSld name="CUSTOM_5_1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 grid">
  <p:cSld name="CUSTOM_6_1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22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3" name="Google Shape;123;p22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22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22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6" name="Google Shape;126;p22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2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2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0" name="Google Shape;130;p22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ustom title slide" type="title">
  <p:cSld name="TITLE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>
            <a:spLocks noGrp="1"/>
          </p:cNvSpPr>
          <p:nvPr>
            <p:ph type="body" idx="1"/>
          </p:nvPr>
        </p:nvSpPr>
        <p:spPr>
          <a:xfrm>
            <a:off x="196951" y="4737750"/>
            <a:ext cx="18603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23"/>
          <p:cNvSpPr txBox="1">
            <a:spLocks noGrp="1"/>
          </p:cNvSpPr>
          <p:nvPr>
            <p:ph type="ctrTitle"/>
          </p:nvPr>
        </p:nvSpPr>
        <p:spPr>
          <a:xfrm>
            <a:off x="196950" y="223825"/>
            <a:ext cx="8011800" cy="187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50"/>
              <a:buNone/>
              <a:defRPr sz="675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ubTitle" idx="2"/>
          </p:nvPr>
        </p:nvSpPr>
        <p:spPr>
          <a:xfrm>
            <a:off x="196950" y="2171250"/>
            <a:ext cx="3986700" cy="5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50"/>
              <a:buFont typeface="DM Sans Medium"/>
              <a:buNone/>
              <a:defRPr sz="1850">
                <a:solidFill>
                  <a:schemeClr val="l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3"/>
          <p:cNvSpPr>
            <a:spLocks noGrp="1"/>
          </p:cNvSpPr>
          <p:nvPr>
            <p:ph type="pic" idx="3"/>
          </p:nvPr>
        </p:nvSpPr>
        <p:spPr>
          <a:xfrm>
            <a:off x="4437578" y="2171250"/>
            <a:ext cx="4509600" cy="27756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36" name="Google Shape;136;p23"/>
          <p:cNvSpPr txBox="1">
            <a:spLocks noGrp="1"/>
          </p:cNvSpPr>
          <p:nvPr>
            <p:ph type="body" idx="4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number" type="secHead">
  <p:cSld name="SECTION_HEADER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>
            <a:spLocks noGrp="1"/>
          </p:cNvSpPr>
          <p:nvPr>
            <p:ph type="title"/>
          </p:nvPr>
        </p:nvSpPr>
        <p:spPr>
          <a:xfrm>
            <a:off x="511953" y="588599"/>
            <a:ext cx="7464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0" name="Google Shape;140;p24"/>
          <p:cNvSpPr txBox="1">
            <a:spLocks noGrp="1"/>
          </p:cNvSpPr>
          <p:nvPr>
            <p:ph type="title" idx="2"/>
          </p:nvPr>
        </p:nvSpPr>
        <p:spPr>
          <a:xfrm>
            <a:off x="511953" y="1430399"/>
            <a:ext cx="7464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1" name="Google Shape;141;p24"/>
          <p:cNvSpPr txBox="1">
            <a:spLocks noGrp="1"/>
          </p:cNvSpPr>
          <p:nvPr>
            <p:ph type="title" idx="3"/>
          </p:nvPr>
        </p:nvSpPr>
        <p:spPr>
          <a:xfrm>
            <a:off x="511953" y="2272199"/>
            <a:ext cx="7464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2" name="Google Shape;142;p24"/>
          <p:cNvSpPr txBox="1">
            <a:spLocks noGrp="1"/>
          </p:cNvSpPr>
          <p:nvPr>
            <p:ph type="title" idx="4"/>
          </p:nvPr>
        </p:nvSpPr>
        <p:spPr>
          <a:xfrm>
            <a:off x="511953" y="3113999"/>
            <a:ext cx="7464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3" name="Google Shape;143;p24"/>
          <p:cNvSpPr txBox="1">
            <a:spLocks noGrp="1"/>
          </p:cNvSpPr>
          <p:nvPr>
            <p:ph type="title" idx="5"/>
          </p:nvPr>
        </p:nvSpPr>
        <p:spPr>
          <a:xfrm>
            <a:off x="511953" y="3955799"/>
            <a:ext cx="7464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4" name="Google Shape;144;p24"/>
          <p:cNvSpPr txBox="1">
            <a:spLocks noGrp="1"/>
          </p:cNvSpPr>
          <p:nvPr>
            <p:ph type="body" idx="1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5" name="Google Shape;145;p24"/>
          <p:cNvSpPr txBox="1">
            <a:spLocks noGrp="1"/>
          </p:cNvSpPr>
          <p:nvPr>
            <p:ph type="body" idx="6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Main Point 1" type="tx">
  <p:cSld name="TITLE_AND_BODY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975300" y="1864050"/>
            <a:ext cx="7193400" cy="141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6951" y="196725"/>
            <a:ext cx="18591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body" idx="3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Main Point 2">
  <p:cSld name="TITLE_AND_BODY_1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3" name="Google Shape;153;p26"/>
          <p:cNvSpPr txBox="1">
            <a:spLocks noGrp="1"/>
          </p:cNvSpPr>
          <p:nvPr>
            <p:ph type="subTitle" idx="1"/>
          </p:nvPr>
        </p:nvSpPr>
        <p:spPr>
          <a:xfrm>
            <a:off x="975300" y="1864050"/>
            <a:ext cx="7193400" cy="141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154" name="Google Shape;154;p26"/>
          <p:cNvSpPr txBox="1">
            <a:spLocks noGrp="1"/>
          </p:cNvSpPr>
          <p:nvPr>
            <p:ph type="body" idx="2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5" name="Google Shape;155;p26"/>
          <p:cNvSpPr txBox="1">
            <a:spLocks noGrp="1"/>
          </p:cNvSpPr>
          <p:nvPr>
            <p:ph type="body" idx="3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, body and image 1" type="twoColTx">
  <p:cSld name="TITLE_AND_TWO_COLUMNS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7"/>
          <p:cNvSpPr txBox="1">
            <a:spLocks noGrp="1"/>
          </p:cNvSpPr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7"/>
          <p:cNvSpPr txBox="1">
            <a:spLocks noGrp="1"/>
          </p:cNvSpPr>
          <p:nvPr>
            <p:ph type="body" idx="1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>
                <a:solidFill>
                  <a:schemeClr val="dk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9" name="Google Shape;15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0" name="Google Shape;160;p27"/>
          <p:cNvSpPr>
            <a:spLocks noGrp="1"/>
          </p:cNvSpPr>
          <p:nvPr>
            <p:ph type="pic" idx="2"/>
          </p:nvPr>
        </p:nvSpPr>
        <p:spPr>
          <a:xfrm>
            <a:off x="3726325" y="669925"/>
            <a:ext cx="5220900" cy="42768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61" name="Google Shape;161;p27"/>
          <p:cNvSpPr txBox="1">
            <a:spLocks noGrp="1"/>
          </p:cNvSpPr>
          <p:nvPr>
            <p:ph type="body" idx="3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body" idx="4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, body and image 2">
  <p:cSld name="TITLE_AND_TWO_COLUMNS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8"/>
          <p:cNvSpPr txBox="1">
            <a:spLocks noGrp="1"/>
          </p:cNvSpPr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8"/>
          <p:cNvSpPr txBox="1">
            <a:spLocks noGrp="1"/>
          </p:cNvSpPr>
          <p:nvPr>
            <p:ph type="body" idx="1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7" name="Google Shape;167;p28"/>
          <p:cNvSpPr>
            <a:spLocks noGrp="1"/>
          </p:cNvSpPr>
          <p:nvPr>
            <p:ph type="pic" idx="2"/>
          </p:nvPr>
        </p:nvSpPr>
        <p:spPr>
          <a:xfrm>
            <a:off x="3726325" y="669925"/>
            <a:ext cx="5220900" cy="42768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68" name="Google Shape;168;p28"/>
          <p:cNvSpPr txBox="1">
            <a:spLocks noGrp="1"/>
          </p:cNvSpPr>
          <p:nvPr>
            <p:ph type="body" idx="3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8"/>
          <p:cNvSpPr txBox="1">
            <a:spLocks noGrp="1"/>
          </p:cNvSpPr>
          <p:nvPr>
            <p:ph type="body" idx="4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8"/>
          <p:cNvSpPr txBox="1">
            <a:spLocks noGrp="1"/>
          </p:cNvSpPr>
          <p:nvPr>
            <p:ph type="sldNum" idx="5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ppendix">
  <p:cSld name="CAPTION_ONLY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0" name="Google Shape;180;p30"/>
          <p:cNvSpPr txBox="1">
            <a:spLocks noGrp="1"/>
          </p:cNvSpPr>
          <p:nvPr>
            <p:ph type="body" idx="1"/>
          </p:nvPr>
        </p:nvSpPr>
        <p:spPr>
          <a:xfrm>
            <a:off x="203000" y="89145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1" name="Google Shape;181;p30"/>
          <p:cNvSpPr txBox="1">
            <a:spLocks noGrp="1"/>
          </p:cNvSpPr>
          <p:nvPr>
            <p:ph type="body" idx="2"/>
          </p:nvPr>
        </p:nvSpPr>
        <p:spPr>
          <a:xfrm>
            <a:off x="203000" y="13204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2" name="Google Shape;182;p30"/>
          <p:cNvSpPr txBox="1">
            <a:spLocks noGrp="1"/>
          </p:cNvSpPr>
          <p:nvPr>
            <p:ph type="body" idx="3"/>
          </p:nvPr>
        </p:nvSpPr>
        <p:spPr>
          <a:xfrm>
            <a:off x="203000" y="15886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3" name="Google Shape;183;p30"/>
          <p:cNvSpPr txBox="1">
            <a:spLocks noGrp="1"/>
          </p:cNvSpPr>
          <p:nvPr>
            <p:ph type="body" idx="4"/>
          </p:nvPr>
        </p:nvSpPr>
        <p:spPr>
          <a:xfrm>
            <a:off x="203000" y="220655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4" name="Google Shape;184;p30"/>
          <p:cNvSpPr txBox="1">
            <a:spLocks noGrp="1"/>
          </p:cNvSpPr>
          <p:nvPr>
            <p:ph type="body" idx="5"/>
          </p:nvPr>
        </p:nvSpPr>
        <p:spPr>
          <a:xfrm>
            <a:off x="203000" y="26355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5" name="Google Shape;185;p30"/>
          <p:cNvSpPr txBox="1">
            <a:spLocks noGrp="1"/>
          </p:cNvSpPr>
          <p:nvPr>
            <p:ph type="body" idx="6"/>
          </p:nvPr>
        </p:nvSpPr>
        <p:spPr>
          <a:xfrm>
            <a:off x="203000" y="29037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6" name="Google Shape;186;p30"/>
          <p:cNvSpPr txBox="1">
            <a:spLocks noGrp="1"/>
          </p:cNvSpPr>
          <p:nvPr>
            <p:ph type="body" idx="7"/>
          </p:nvPr>
        </p:nvSpPr>
        <p:spPr>
          <a:xfrm>
            <a:off x="203000" y="343340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7" name="Google Shape;187;p30"/>
          <p:cNvSpPr txBox="1">
            <a:spLocks noGrp="1"/>
          </p:cNvSpPr>
          <p:nvPr>
            <p:ph type="body" idx="8"/>
          </p:nvPr>
        </p:nvSpPr>
        <p:spPr>
          <a:xfrm>
            <a:off x="203000" y="386240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8" name="Google Shape;188;p30"/>
          <p:cNvSpPr txBox="1">
            <a:spLocks noGrp="1"/>
          </p:cNvSpPr>
          <p:nvPr>
            <p:ph type="body" idx="9"/>
          </p:nvPr>
        </p:nvSpPr>
        <p:spPr>
          <a:xfrm>
            <a:off x="203000" y="413060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9" name="Google Shape;189;p30"/>
          <p:cNvSpPr txBox="1">
            <a:spLocks noGrp="1"/>
          </p:cNvSpPr>
          <p:nvPr>
            <p:ph type="body" idx="13"/>
          </p:nvPr>
        </p:nvSpPr>
        <p:spPr>
          <a:xfrm>
            <a:off x="3249600" y="89145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0" name="Google Shape;190;p30"/>
          <p:cNvSpPr txBox="1">
            <a:spLocks noGrp="1"/>
          </p:cNvSpPr>
          <p:nvPr>
            <p:ph type="body" idx="14"/>
          </p:nvPr>
        </p:nvSpPr>
        <p:spPr>
          <a:xfrm>
            <a:off x="3249600" y="13204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1" name="Google Shape;191;p30"/>
          <p:cNvSpPr txBox="1">
            <a:spLocks noGrp="1"/>
          </p:cNvSpPr>
          <p:nvPr>
            <p:ph type="body" idx="15"/>
          </p:nvPr>
        </p:nvSpPr>
        <p:spPr>
          <a:xfrm>
            <a:off x="3249600" y="15886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2" name="Google Shape;192;p30"/>
          <p:cNvSpPr txBox="1">
            <a:spLocks noGrp="1"/>
          </p:cNvSpPr>
          <p:nvPr>
            <p:ph type="body" idx="16"/>
          </p:nvPr>
        </p:nvSpPr>
        <p:spPr>
          <a:xfrm>
            <a:off x="3249600" y="220655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3" name="Google Shape;193;p30"/>
          <p:cNvSpPr txBox="1">
            <a:spLocks noGrp="1"/>
          </p:cNvSpPr>
          <p:nvPr>
            <p:ph type="body" idx="17"/>
          </p:nvPr>
        </p:nvSpPr>
        <p:spPr>
          <a:xfrm>
            <a:off x="3249600" y="26355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4" name="Google Shape;194;p30"/>
          <p:cNvSpPr txBox="1">
            <a:spLocks noGrp="1"/>
          </p:cNvSpPr>
          <p:nvPr>
            <p:ph type="body" idx="18"/>
          </p:nvPr>
        </p:nvSpPr>
        <p:spPr>
          <a:xfrm>
            <a:off x="3249600" y="29037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5" name="Google Shape;195;p30"/>
          <p:cNvSpPr txBox="1">
            <a:spLocks noGrp="1"/>
          </p:cNvSpPr>
          <p:nvPr>
            <p:ph type="body" idx="19"/>
          </p:nvPr>
        </p:nvSpPr>
        <p:spPr>
          <a:xfrm>
            <a:off x="3249600" y="343340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6" name="Google Shape;196;p30"/>
          <p:cNvSpPr txBox="1">
            <a:spLocks noGrp="1"/>
          </p:cNvSpPr>
          <p:nvPr>
            <p:ph type="body" idx="20"/>
          </p:nvPr>
        </p:nvSpPr>
        <p:spPr>
          <a:xfrm>
            <a:off x="3249600" y="386240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7" name="Google Shape;197;p30"/>
          <p:cNvSpPr txBox="1">
            <a:spLocks noGrp="1"/>
          </p:cNvSpPr>
          <p:nvPr>
            <p:ph type="body" idx="21"/>
          </p:nvPr>
        </p:nvSpPr>
        <p:spPr>
          <a:xfrm>
            <a:off x="3249600" y="413060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8" name="Google Shape;198;p30"/>
          <p:cNvSpPr txBox="1">
            <a:spLocks noGrp="1"/>
          </p:cNvSpPr>
          <p:nvPr>
            <p:ph type="body" idx="22"/>
          </p:nvPr>
        </p:nvSpPr>
        <p:spPr>
          <a:xfrm>
            <a:off x="6296200" y="89145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9" name="Google Shape;199;p30"/>
          <p:cNvSpPr txBox="1">
            <a:spLocks noGrp="1"/>
          </p:cNvSpPr>
          <p:nvPr>
            <p:ph type="body" idx="23"/>
          </p:nvPr>
        </p:nvSpPr>
        <p:spPr>
          <a:xfrm>
            <a:off x="6296200" y="13204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0" name="Google Shape;200;p30"/>
          <p:cNvSpPr txBox="1">
            <a:spLocks noGrp="1"/>
          </p:cNvSpPr>
          <p:nvPr>
            <p:ph type="body" idx="24"/>
          </p:nvPr>
        </p:nvSpPr>
        <p:spPr>
          <a:xfrm>
            <a:off x="6296200" y="15886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1" name="Google Shape;201;p30"/>
          <p:cNvSpPr txBox="1">
            <a:spLocks noGrp="1"/>
          </p:cNvSpPr>
          <p:nvPr>
            <p:ph type="body" idx="25"/>
          </p:nvPr>
        </p:nvSpPr>
        <p:spPr>
          <a:xfrm>
            <a:off x="6296200" y="220655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2" name="Google Shape;202;p30"/>
          <p:cNvSpPr txBox="1">
            <a:spLocks noGrp="1"/>
          </p:cNvSpPr>
          <p:nvPr>
            <p:ph type="body" idx="26"/>
          </p:nvPr>
        </p:nvSpPr>
        <p:spPr>
          <a:xfrm>
            <a:off x="6296200" y="26355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3" name="Google Shape;203;p30"/>
          <p:cNvSpPr txBox="1">
            <a:spLocks noGrp="1"/>
          </p:cNvSpPr>
          <p:nvPr>
            <p:ph type="body" idx="27"/>
          </p:nvPr>
        </p:nvSpPr>
        <p:spPr>
          <a:xfrm>
            <a:off x="6296200" y="29037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4" name="Google Shape;204;p30"/>
          <p:cNvSpPr txBox="1">
            <a:spLocks noGrp="1"/>
          </p:cNvSpPr>
          <p:nvPr>
            <p:ph type="body" idx="28"/>
          </p:nvPr>
        </p:nvSpPr>
        <p:spPr>
          <a:xfrm>
            <a:off x="6296200" y="343340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5" name="Google Shape;205;p30"/>
          <p:cNvSpPr txBox="1">
            <a:spLocks noGrp="1"/>
          </p:cNvSpPr>
          <p:nvPr>
            <p:ph type="body" idx="29"/>
          </p:nvPr>
        </p:nvSpPr>
        <p:spPr>
          <a:xfrm>
            <a:off x="6296200" y="386240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6" name="Google Shape;206;p30"/>
          <p:cNvSpPr txBox="1">
            <a:spLocks noGrp="1"/>
          </p:cNvSpPr>
          <p:nvPr>
            <p:ph type="body" idx="30"/>
          </p:nvPr>
        </p:nvSpPr>
        <p:spPr>
          <a:xfrm>
            <a:off x="6296200" y="413060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7" name="Google Shape;207;p30"/>
          <p:cNvSpPr txBox="1">
            <a:spLocks noGrp="1"/>
          </p:cNvSpPr>
          <p:nvPr>
            <p:ph type="body" idx="31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>
            <a:endParaRPr/>
          </a:p>
        </p:txBody>
      </p:sp>
      <p:sp>
        <p:nvSpPr>
          <p:cNvPr id="208" name="Google Shape;208;p30"/>
          <p:cNvSpPr txBox="1">
            <a:spLocks noGrp="1"/>
          </p:cNvSpPr>
          <p:nvPr>
            <p:ph type="body" idx="32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ustom blank">
  <p:cSld name="CUSTOM"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1" name="Google Shape;211;p31"/>
          <p:cNvSpPr txBox="1">
            <a:spLocks noGrp="1"/>
          </p:cNvSpPr>
          <p:nvPr>
            <p:ph type="body" idx="1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2" name="Google Shape;212;p31"/>
          <p:cNvSpPr txBox="1">
            <a:spLocks noGrp="1"/>
          </p:cNvSpPr>
          <p:nvPr>
            <p:ph type="body" idx="2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>
            <a:alpha val="0"/>
          </a:scheme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17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●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DM Sans"/>
              <a:buChar char="○"/>
              <a:defRPr sz="8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■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●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○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■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●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○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■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6" r:id="rId27"/>
    <p:sldLayoutId id="2147483677" r:id="rId2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4">
          <p15:clr>
            <a:srgbClr val="E46962"/>
          </p15:clr>
        </p15:guide>
        <p15:guide id="2" orient="horz" pos="124">
          <p15:clr>
            <a:srgbClr val="E46962"/>
          </p15:clr>
        </p15:guide>
        <p15:guide id="3" pos="5636">
          <p15:clr>
            <a:srgbClr val="E46962"/>
          </p15:clr>
        </p15:guide>
        <p15:guide id="4" orient="horz" pos="3116">
          <p15:clr>
            <a:srgbClr val="E46962"/>
          </p15:clr>
        </p15:guide>
        <p15:guide id="5" pos="1296">
          <p15:clr>
            <a:srgbClr val="E46962"/>
          </p15:clr>
        </p15:guide>
        <p15:guide id="6" pos="4465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2"/>
          <p:cNvSpPr txBox="1">
            <a:spLocks noGrp="1"/>
          </p:cNvSpPr>
          <p:nvPr>
            <p:ph type="body" idx="4"/>
          </p:nvPr>
        </p:nvSpPr>
        <p:spPr>
          <a:xfrm>
            <a:off x="8208751" y="196725"/>
            <a:ext cx="8124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04.21.2025</a:t>
            </a:r>
            <a:endParaRPr/>
          </a:p>
        </p:txBody>
      </p:sp>
      <p:sp>
        <p:nvSpPr>
          <p:cNvPr id="218" name="Google Shape;218;p32"/>
          <p:cNvSpPr txBox="1">
            <a:spLocks noGrp="1"/>
          </p:cNvSpPr>
          <p:nvPr>
            <p:ph type="ctrTitle"/>
          </p:nvPr>
        </p:nvSpPr>
        <p:spPr>
          <a:xfrm>
            <a:off x="196950" y="405825"/>
            <a:ext cx="8750100" cy="187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DiabetaRec</a:t>
            </a:r>
            <a:endParaRPr dirty="0"/>
          </a:p>
        </p:txBody>
      </p:sp>
      <p:sp>
        <p:nvSpPr>
          <p:cNvPr id="219" name="Google Shape;219;p32"/>
          <p:cNvSpPr txBox="1">
            <a:spLocks noGrp="1"/>
          </p:cNvSpPr>
          <p:nvPr>
            <p:ph type="subTitle" idx="2"/>
          </p:nvPr>
        </p:nvSpPr>
        <p:spPr>
          <a:xfrm>
            <a:off x="197375" y="1441575"/>
            <a:ext cx="8198100" cy="5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 Personalized, Diabetes-Aware Recipe Recommendation System using Machine Learning and Generative AI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220" name="Google Shape;220;p32"/>
          <p:cNvSpPr txBox="1">
            <a:spLocks noGrp="1"/>
          </p:cNvSpPr>
          <p:nvPr>
            <p:ph type="body" idx="1"/>
          </p:nvPr>
        </p:nvSpPr>
        <p:spPr>
          <a:xfrm>
            <a:off x="196950" y="4391250"/>
            <a:ext cx="2554800" cy="55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Jiaxian Li, Yiwen Kang</a:t>
            </a:r>
            <a:endParaRPr/>
          </a:p>
        </p:txBody>
      </p:sp>
      <p:pic>
        <p:nvPicPr>
          <p:cNvPr id="221" name="Google Shape;221;p32" descr="Blue and green wave pattern. 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t="797" b="797"/>
          <a:stretch/>
        </p:blipFill>
        <p:spPr>
          <a:xfrm>
            <a:off x="4437578" y="2171250"/>
            <a:ext cx="4509600" cy="2775600"/>
          </a:xfrm>
          <a:prstGeom prst="round2DiagRect">
            <a:avLst>
              <a:gd name="adj1" fmla="val 16667"/>
              <a:gd name="adj2" fmla="val 0"/>
            </a:avLst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27" name="Google Shape;227;p33"/>
          <p:cNvSpPr txBox="1">
            <a:spLocks noGrp="1"/>
          </p:cNvSpPr>
          <p:nvPr>
            <p:ph type="body" idx="1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228" name="Google Shape;228;p33"/>
          <p:cNvSpPr txBox="1">
            <a:spLocks noGrp="1"/>
          </p:cNvSpPr>
          <p:nvPr>
            <p:ph type="body" idx="2"/>
          </p:nvPr>
        </p:nvSpPr>
        <p:spPr>
          <a:xfrm>
            <a:off x="6513075" y="196725"/>
            <a:ext cx="25077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 dirty="0"/>
              <a:t>CSYE 7380 - Theory &amp; Prac App AI Gen Model College of Engineering, Northeastern University </a:t>
            </a:r>
            <a:endParaRPr dirty="0"/>
          </a:p>
        </p:txBody>
      </p:sp>
      <p:sp>
        <p:nvSpPr>
          <p:cNvPr id="229" name="Google Shape;229;p33"/>
          <p:cNvSpPr txBox="1"/>
          <p:nvPr/>
        </p:nvSpPr>
        <p:spPr>
          <a:xfrm>
            <a:off x="516423" y="744800"/>
            <a:ext cx="83010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 Understanding and Definition</a:t>
            </a:r>
            <a:endParaRPr sz="22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0" name="Google Shape;230;p33"/>
          <p:cNvSpPr txBox="1"/>
          <p:nvPr/>
        </p:nvSpPr>
        <p:spPr>
          <a:xfrm>
            <a:off x="516437" y="1584311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Model/Framework Selection &amp; Implementation</a:t>
            </a:r>
            <a:endParaRPr sz="22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1" name="Google Shape;231;p33"/>
          <p:cNvSpPr txBox="1"/>
          <p:nvPr/>
        </p:nvSpPr>
        <p:spPr>
          <a:xfrm>
            <a:off x="516437" y="2423794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 Interpretation</a:t>
            </a:r>
            <a:endParaRPr sz="22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2" name="Google Shape;232;p33"/>
          <p:cNvSpPr txBox="1"/>
          <p:nvPr/>
        </p:nvSpPr>
        <p:spPr>
          <a:xfrm>
            <a:off x="516437" y="3256495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Creativity and Innovation</a:t>
            </a:r>
            <a:endParaRPr sz="22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3" name="Google Shape;233;p33"/>
          <p:cNvSpPr txBox="1"/>
          <p:nvPr/>
        </p:nvSpPr>
        <p:spPr>
          <a:xfrm>
            <a:off x="196954" y="816789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1.</a:t>
            </a:r>
            <a:endParaRPr sz="14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4" name="Google Shape;234;p33"/>
          <p:cNvSpPr txBox="1"/>
          <p:nvPr/>
        </p:nvSpPr>
        <p:spPr>
          <a:xfrm>
            <a:off x="196954" y="1656311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2.</a:t>
            </a:r>
            <a:endParaRPr sz="14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5" name="Google Shape;235;p33"/>
          <p:cNvSpPr txBox="1"/>
          <p:nvPr/>
        </p:nvSpPr>
        <p:spPr>
          <a:xfrm>
            <a:off x="196954" y="2495794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3.</a:t>
            </a:r>
            <a:endParaRPr sz="14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6" name="Google Shape;236;p33"/>
          <p:cNvSpPr txBox="1"/>
          <p:nvPr/>
        </p:nvSpPr>
        <p:spPr>
          <a:xfrm>
            <a:off x="196954" y="3328495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4.</a:t>
            </a:r>
            <a:endParaRPr sz="14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42" name="Google Shape;242;p34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243" name="Google Shape;243;p34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 Understanding and Definition</a:t>
            </a:r>
            <a:endParaRPr sz="36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44" name="Google Shape;244;p34"/>
          <p:cNvSpPr txBox="1"/>
          <p:nvPr/>
        </p:nvSpPr>
        <p:spPr>
          <a:xfrm>
            <a:off x="516425" y="1370275"/>
            <a:ext cx="6790500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>
                <a:solidFill>
                  <a:schemeClr val="hlink"/>
                </a:solidFill>
              </a:rPr>
              <a:t>🔹 Problem Statement</a:t>
            </a:r>
            <a:endParaRPr sz="1300" b="1">
              <a:solidFill>
                <a:schemeClr val="hlink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>
                <a:solidFill>
                  <a:schemeClr val="hlink"/>
                </a:solidFill>
              </a:rPr>
              <a:t>Diabetes requires personalized dietary planning</a:t>
            </a:r>
            <a:endParaRPr sz="1100" b="1">
              <a:solidFill>
                <a:schemeClr val="hlink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>
                <a:solidFill>
                  <a:schemeClr val="hlink"/>
                </a:solidFill>
              </a:rPr>
              <a:t>Existing systems lack health-aware, preference-driven recommendations</a:t>
            </a:r>
            <a:endParaRPr sz="1100" b="1">
              <a:solidFill>
                <a:schemeClr val="hlink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>
                <a:solidFill>
                  <a:schemeClr val="hlink"/>
                </a:solidFill>
              </a:rPr>
              <a:t>Goal: Predict diabetes risk and recommend recipes accordingly</a:t>
            </a:r>
            <a:endParaRPr sz="1000">
              <a:solidFill>
                <a:schemeClr val="dk2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000">
              <a:solidFill>
                <a:schemeClr val="dk2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>
                <a:solidFill>
                  <a:schemeClr val="hlink"/>
                </a:solidFill>
              </a:rPr>
              <a:t>🔹 Approach Overview</a:t>
            </a:r>
            <a:endParaRPr sz="1300" b="1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>
                <a:solidFill>
                  <a:schemeClr val="hlink"/>
                </a:solidFill>
              </a:rPr>
              <a:t>Supervised ML</a:t>
            </a:r>
            <a:r>
              <a:rPr lang="en" sz="1100">
                <a:solidFill>
                  <a:schemeClr val="hlink"/>
                </a:solidFill>
              </a:rPr>
              <a:t> predicts diabetes from structured health data</a:t>
            </a: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>
                <a:solidFill>
                  <a:schemeClr val="hlink"/>
                </a:solidFill>
              </a:rPr>
              <a:t>LLM + MCP</a:t>
            </a:r>
            <a:r>
              <a:rPr lang="en" sz="1100">
                <a:solidFill>
                  <a:schemeClr val="hlink"/>
                </a:solidFill>
              </a:rPr>
              <a:t> extracts user food preferences from natural language</a:t>
            </a:r>
            <a:endParaRPr sz="1000">
              <a:solidFill>
                <a:schemeClr val="dk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50" name="Google Shape;250;p35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251" name="Google Shape;251;p35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 Understanding and Definition</a:t>
            </a:r>
            <a:endParaRPr sz="36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2" name="Google Shape;252;p35"/>
          <p:cNvSpPr txBox="1"/>
          <p:nvPr/>
        </p:nvSpPr>
        <p:spPr>
          <a:xfrm>
            <a:off x="516425" y="1370275"/>
            <a:ext cx="6790500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Target Variable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 dirty="0">
                <a:solidFill>
                  <a:schemeClr val="hlink"/>
                </a:solidFill>
              </a:rPr>
              <a:t>Diabetes status：</a:t>
            </a:r>
            <a:r>
              <a:rPr lang="en" sz="1100" dirty="0">
                <a:solidFill>
                  <a:schemeClr val="hlink"/>
                </a:solidFill>
              </a:rPr>
              <a:t>Binary classification: 0 = non-diabetic, 1 = diabetic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 dirty="0">
                <a:solidFill>
                  <a:schemeClr val="hlink"/>
                </a:solidFill>
              </a:rPr>
              <a:t>food preference scores：</a:t>
            </a:r>
            <a:r>
              <a:rPr lang="en" sz="1100" dirty="0">
                <a:solidFill>
                  <a:schemeClr val="hlink"/>
                </a:solidFill>
              </a:rPr>
              <a:t> (per category, range: –5 to +5)</a:t>
            </a:r>
            <a:endParaRPr sz="1100" dirty="0">
              <a:solidFill>
                <a:schemeClr val="hlink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Key Features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Health data: Glucose, BMI, Age, Pregnancies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User intent: Processed via MCP to get structured food preference scores</a:t>
            </a:r>
            <a:endParaRPr sz="1100" dirty="0">
              <a:solidFill>
                <a:schemeClr val="hlink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Framing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 dirty="0">
                <a:solidFill>
                  <a:schemeClr val="hlink"/>
                </a:solidFill>
              </a:rPr>
              <a:t>Supervised Learning</a:t>
            </a:r>
            <a:r>
              <a:rPr lang="en" sz="1100" dirty="0">
                <a:solidFill>
                  <a:schemeClr val="hlink"/>
                </a:solidFill>
              </a:rPr>
              <a:t> for prediction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 dirty="0">
                <a:solidFill>
                  <a:schemeClr val="hlink"/>
                </a:solidFill>
              </a:rPr>
              <a:t>Prompt Engineering with MCP</a:t>
            </a:r>
            <a:r>
              <a:rPr lang="en" sz="1100" dirty="0">
                <a:solidFill>
                  <a:schemeClr val="hlink"/>
                </a:solidFill>
              </a:rPr>
              <a:t> for user input parsing and response generation</a:t>
            </a:r>
            <a:endParaRPr sz="1300" b="1" dirty="0">
              <a:solidFill>
                <a:schemeClr val="hlink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B6A4B5-DDDC-821F-D80E-B472EEAC8219}"/>
              </a:ext>
            </a:extLst>
          </p:cNvPr>
          <p:cNvGrpSpPr/>
          <p:nvPr/>
        </p:nvGrpSpPr>
        <p:grpSpPr>
          <a:xfrm>
            <a:off x="4970352" y="2824681"/>
            <a:ext cx="3852994" cy="2087348"/>
            <a:chOff x="1844654" y="1124228"/>
            <a:chExt cx="8502691" cy="4680558"/>
          </a:xfrm>
        </p:grpSpPr>
        <p:pic>
          <p:nvPicPr>
            <p:cNvPr id="3" name="Picture 2" descr="Ensemble Learning: 5 Main Approaches - KDnuggets">
              <a:extLst>
                <a:ext uri="{FF2B5EF4-FFF2-40B4-BE49-F238E27FC236}">
                  <a16:creationId xmlns:a16="http://schemas.microsoft.com/office/drawing/2014/main" id="{3B4DF87E-3CE1-D3C0-6548-69A4D582C7D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7327"/>
            <a:stretch>
              <a:fillRect/>
            </a:stretch>
          </p:blipFill>
          <p:spPr bwMode="auto">
            <a:xfrm>
              <a:off x="1844654" y="1124228"/>
              <a:ext cx="8502691" cy="46805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5FECF876-AC63-45A9-37D6-CDA804B567AC}"/>
                </a:ext>
              </a:extLst>
            </p:cNvPr>
            <p:cNvSpPr/>
            <p:nvPr/>
          </p:nvSpPr>
          <p:spPr>
            <a:xfrm>
              <a:off x="2038925" y="2581438"/>
              <a:ext cx="533144" cy="553998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dirty="0"/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A42E46A-B366-E6A1-ABDB-403351E5F81C}"/>
                </a:ext>
              </a:extLst>
            </p:cNvPr>
            <p:cNvSpPr/>
            <p:nvPr/>
          </p:nvSpPr>
          <p:spPr>
            <a:xfrm>
              <a:off x="3963758" y="2589616"/>
              <a:ext cx="533144" cy="553998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dirty="0"/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AF66FB7-76E2-C6A2-5E85-14A0318F9701}"/>
                </a:ext>
              </a:extLst>
            </p:cNvPr>
            <p:cNvSpPr/>
            <p:nvPr/>
          </p:nvSpPr>
          <p:spPr>
            <a:xfrm>
              <a:off x="5907380" y="2589616"/>
              <a:ext cx="533144" cy="553998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dirty="0"/>
                <a:t>1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B82157E-BF5A-42B4-E945-CCAFB92F1C61}"/>
                </a:ext>
              </a:extLst>
            </p:cNvPr>
            <p:cNvSpPr/>
            <p:nvPr/>
          </p:nvSpPr>
          <p:spPr>
            <a:xfrm>
              <a:off x="7851002" y="2581896"/>
              <a:ext cx="542932" cy="553998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FA7061-6FA0-E5AC-74F2-BA290C22B5A3}"/>
                </a:ext>
              </a:extLst>
            </p:cNvPr>
            <p:cNvSpPr/>
            <p:nvPr/>
          </p:nvSpPr>
          <p:spPr>
            <a:xfrm>
              <a:off x="4967014" y="1290093"/>
              <a:ext cx="533144" cy="553998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dirty="0"/>
                <a:t>1</a:t>
              </a:r>
            </a:p>
          </p:txBody>
        </p:sp>
      </p:grpSp>
      <p:sp>
        <p:nvSpPr>
          <p:cNvPr id="257" name="Google Shape;257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58" name="Google Shape;258;p36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 dirty="0"/>
              <a:t>CSYE 7380 - Theory &amp; Prac App AI Gen Model College of Engineering, Northeastern University </a:t>
            </a:r>
            <a:endParaRPr dirty="0"/>
          </a:p>
        </p:txBody>
      </p:sp>
      <p:sp>
        <p:nvSpPr>
          <p:cNvPr id="259" name="Google Shape;259;p36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Model/Framework Selection &amp; Implementation</a:t>
            </a:r>
            <a:endParaRPr sz="365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60" name="Google Shape;260;p36"/>
          <p:cNvSpPr txBox="1"/>
          <p:nvPr/>
        </p:nvSpPr>
        <p:spPr>
          <a:xfrm>
            <a:off x="516425" y="1370275"/>
            <a:ext cx="6790500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ML Pipeline for Diabetes Prediction</a:t>
            </a: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endParaRPr lang="zh-CN" altLang="en-US" sz="1300" b="1" dirty="0">
              <a:solidFill>
                <a:schemeClr val="hlink"/>
              </a:solidFill>
            </a:endParaRPr>
          </a:p>
          <a:p>
            <a:pPr marL="457200" indent="-298450">
              <a:lnSpc>
                <a:spcPct val="115000"/>
              </a:lnSpc>
              <a:buClr>
                <a:schemeClr val="hlink"/>
              </a:buClr>
              <a:buSzPts val="1100"/>
              <a:buFont typeface="Arial"/>
              <a:buChar char="●"/>
            </a:pPr>
            <a:r>
              <a:rPr lang="en-US" altLang="zh-CN" sz="1100" dirty="0">
                <a:solidFill>
                  <a:schemeClr val="hlink"/>
                </a:solidFill>
              </a:rPr>
              <a:t>SMOTE for class balancing</a:t>
            </a:r>
          </a:p>
          <a:p>
            <a:pPr marL="457200" indent="-298450">
              <a:lnSpc>
                <a:spcPct val="115000"/>
              </a:lnSpc>
              <a:buClr>
                <a:schemeClr val="hlink"/>
              </a:buClr>
              <a:buSzPts val="1100"/>
              <a:buFont typeface="Arial"/>
              <a:buChar char="●"/>
            </a:pPr>
            <a:endParaRPr lang="fr-FR" sz="1100" dirty="0">
              <a:solidFill>
                <a:schemeClr val="hlink"/>
              </a:solidFill>
            </a:endParaRPr>
          </a:p>
          <a:p>
            <a:pPr marL="457200" indent="-298450">
              <a:lnSpc>
                <a:spcPct val="115000"/>
              </a:lnSpc>
              <a:buClr>
                <a:schemeClr val="hlink"/>
              </a:buClr>
              <a:buSzPts val="1100"/>
              <a:buFont typeface="Arial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Ensemble via soft voting + stacking</a:t>
            </a:r>
            <a:br>
              <a:rPr lang="en" sz="1100" dirty="0">
                <a:solidFill>
                  <a:schemeClr val="hlink"/>
                </a:solidFill>
              </a:rPr>
            </a:br>
            <a:endParaRPr sz="1100" dirty="0">
              <a:solidFill>
                <a:schemeClr val="hlink"/>
              </a:solidFill>
            </a:endParaRPr>
          </a:p>
          <a:p>
            <a:pPr marL="457200" indent="-298450">
              <a:lnSpc>
                <a:spcPct val="115000"/>
              </a:lnSpc>
              <a:buClr>
                <a:schemeClr val="hlink"/>
              </a:buClr>
              <a:buSzPts val="1100"/>
              <a:buFont typeface="Arial"/>
              <a:buChar char="●"/>
            </a:pPr>
            <a:r>
              <a:rPr lang="fr-FR" altLang="zh-CN" sz="1100" dirty="0" err="1">
                <a:solidFill>
                  <a:schemeClr val="hlink"/>
                </a:solidFill>
              </a:rPr>
              <a:t>Models</a:t>
            </a:r>
            <a:r>
              <a:rPr lang="fr-FR" altLang="zh-CN" sz="1100" dirty="0">
                <a:solidFill>
                  <a:schemeClr val="hlink"/>
                </a:solidFill>
              </a:rPr>
              <a:t>: </a:t>
            </a:r>
            <a:r>
              <a:rPr lang="fr-FR" altLang="zh-CN" sz="1100" dirty="0" err="1">
                <a:solidFill>
                  <a:schemeClr val="hlink"/>
                </a:solidFill>
              </a:rPr>
              <a:t>Decision</a:t>
            </a:r>
            <a:r>
              <a:rPr lang="fr-FR" altLang="zh-CN" sz="1100" dirty="0">
                <a:solidFill>
                  <a:schemeClr val="hlink"/>
                </a:solidFill>
              </a:rPr>
              <a:t> </a:t>
            </a:r>
            <a:r>
              <a:rPr lang="fr-FR" altLang="zh-CN" sz="1100" dirty="0" err="1">
                <a:solidFill>
                  <a:schemeClr val="hlink"/>
                </a:solidFill>
              </a:rPr>
              <a:t>Tree</a:t>
            </a:r>
            <a:r>
              <a:rPr lang="fr-FR" altLang="zh-CN" sz="1100" dirty="0">
                <a:solidFill>
                  <a:schemeClr val="hlink"/>
                </a:solidFill>
              </a:rPr>
              <a:t>, </a:t>
            </a:r>
            <a:r>
              <a:rPr lang="fr-FR" altLang="zh-CN" sz="1100" dirty="0" err="1">
                <a:solidFill>
                  <a:schemeClr val="hlink"/>
                </a:solidFill>
              </a:rPr>
              <a:t>GaussianNB</a:t>
            </a:r>
            <a:r>
              <a:rPr lang="fr-FR" altLang="zh-CN" sz="1100" dirty="0">
                <a:solidFill>
                  <a:schemeClr val="hlink"/>
                </a:solidFill>
              </a:rPr>
              <a:t>, KNN, </a:t>
            </a:r>
            <a:r>
              <a:rPr lang="fr-FR" altLang="zh-CN" sz="1100" dirty="0" err="1">
                <a:solidFill>
                  <a:schemeClr val="hlink"/>
                </a:solidFill>
              </a:rPr>
              <a:t>Logistic</a:t>
            </a:r>
            <a:r>
              <a:rPr lang="fr-FR" altLang="zh-CN" sz="1100" dirty="0">
                <a:solidFill>
                  <a:schemeClr val="hlink"/>
                </a:solidFill>
              </a:rPr>
              <a:t> </a:t>
            </a:r>
            <a:r>
              <a:rPr lang="fr-FR" altLang="zh-CN" sz="1100" dirty="0" err="1">
                <a:solidFill>
                  <a:schemeClr val="hlink"/>
                </a:solidFill>
              </a:rPr>
              <a:t>Regression</a:t>
            </a:r>
            <a:r>
              <a:rPr lang="fr-FR" altLang="zh-CN" sz="1100" dirty="0">
                <a:solidFill>
                  <a:schemeClr val="hlink"/>
                </a:solidFill>
              </a:rPr>
              <a:t>, SVM, MLP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284" name="Google Shape;284;p39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285" name="Google Shape;285;p39"/>
          <p:cNvSpPr txBox="1"/>
          <p:nvPr/>
        </p:nvSpPr>
        <p:spPr>
          <a:xfrm>
            <a:off x="516437" y="744789"/>
            <a:ext cx="4337446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Model/Framework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Selection &amp; Implementation</a:t>
            </a:r>
            <a:endParaRPr sz="365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86" name="Google Shape;286;p39"/>
          <p:cNvSpPr txBox="1"/>
          <p:nvPr/>
        </p:nvSpPr>
        <p:spPr>
          <a:xfrm>
            <a:off x="516425" y="1370275"/>
            <a:ext cx="3918071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LLM for User Preference Extraction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GPT-based model parses natural language</a:t>
            </a:r>
            <a:br>
              <a:rPr lang="en" sz="1100" dirty="0">
                <a:solidFill>
                  <a:schemeClr val="hlink"/>
                </a:solidFill>
              </a:rPr>
            </a:b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 dirty="0">
                <a:solidFill>
                  <a:schemeClr val="hlink"/>
                </a:solidFill>
              </a:rPr>
              <a:t>MCP</a:t>
            </a:r>
            <a:r>
              <a:rPr lang="en" sz="1100" dirty="0">
                <a:solidFill>
                  <a:schemeClr val="hlink"/>
                </a:solidFill>
              </a:rPr>
              <a:t> ensures structured, controllable output</a:t>
            </a:r>
            <a:br>
              <a:rPr lang="en" sz="1100" dirty="0">
                <a:solidFill>
                  <a:schemeClr val="hlink"/>
                </a:solidFill>
              </a:rPr>
            </a:b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Returns scores for 13 food categories (–5 to +5)</a:t>
            </a:r>
            <a:endParaRPr sz="1100" dirty="0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300" b="1" dirty="0">
              <a:solidFill>
                <a:schemeClr val="hlink"/>
              </a:solidFill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202ED14-FAEA-7ED9-410A-3A9C31B53207}"/>
              </a:ext>
            </a:extLst>
          </p:cNvPr>
          <p:cNvSpPr/>
          <p:nvPr/>
        </p:nvSpPr>
        <p:spPr>
          <a:xfrm>
            <a:off x="6007033" y="520755"/>
            <a:ext cx="1339106" cy="252269"/>
          </a:xfrm>
          <a:prstGeom prst="roundRect">
            <a:avLst/>
          </a:prstGeom>
          <a:solidFill>
            <a:schemeClr val="tx1">
              <a:lumMod val="20000"/>
              <a:lumOff val="80000"/>
              <a:alpha val="13000"/>
            </a:schemeClr>
          </a:solidFill>
          <a:ln w="9525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bg2"/>
                </a:solidFill>
              </a:rPr>
              <a:t>User Input (Text) </a:t>
            </a:r>
            <a:endParaRPr lang="zh-CN" altLang="en-US" sz="900" dirty="0">
              <a:solidFill>
                <a:schemeClr val="bg2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4E39A2D-ACF4-2F8A-FB10-CBA2EED08459}"/>
              </a:ext>
            </a:extLst>
          </p:cNvPr>
          <p:cNvSpPr/>
          <p:nvPr/>
        </p:nvSpPr>
        <p:spPr>
          <a:xfrm>
            <a:off x="6007032" y="1035390"/>
            <a:ext cx="1339107" cy="252269"/>
          </a:xfrm>
          <a:prstGeom prst="roundRect">
            <a:avLst/>
          </a:prstGeom>
          <a:solidFill>
            <a:schemeClr val="tx1">
              <a:lumMod val="20000"/>
              <a:lumOff val="80000"/>
              <a:alpha val="13000"/>
            </a:schemeClr>
          </a:solidFill>
          <a:ln w="9525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bg2"/>
                </a:solidFill>
              </a:rPr>
              <a:t> LLM + MCP Prompt </a:t>
            </a:r>
            <a:endParaRPr lang="zh-CN" altLang="en-US" sz="900" dirty="0">
              <a:solidFill>
                <a:schemeClr val="bg2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FF6C01F-5D57-E7B8-E54A-9DDA320B6699}"/>
              </a:ext>
            </a:extLst>
          </p:cNvPr>
          <p:cNvSpPr/>
          <p:nvPr/>
        </p:nvSpPr>
        <p:spPr>
          <a:xfrm>
            <a:off x="6021254" y="1561241"/>
            <a:ext cx="1310665" cy="648853"/>
          </a:xfrm>
          <a:prstGeom prst="roundRect">
            <a:avLst/>
          </a:prstGeom>
          <a:solidFill>
            <a:schemeClr val="tx1">
              <a:lumMod val="20000"/>
              <a:lumOff val="80000"/>
              <a:alpha val="13000"/>
            </a:schemeClr>
          </a:solidFill>
          <a:ln w="9525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900" dirty="0">
                <a:solidFill>
                  <a:schemeClr val="bg2"/>
                </a:solidFill>
              </a:rPr>
              <a:t> JSON output: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900" dirty="0" err="1">
                <a:solidFill>
                  <a:schemeClr val="bg2"/>
                </a:solidFill>
              </a:rPr>
              <a:t>category_scores</a:t>
            </a:r>
            <a:r>
              <a:rPr lang="en-US" altLang="zh-CN" sz="900" dirty="0">
                <a:solidFill>
                  <a:schemeClr val="bg2"/>
                </a:solidFill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900" dirty="0">
                <a:solidFill>
                  <a:schemeClr val="bg2"/>
                </a:solidFill>
              </a:rPr>
              <a:t>reasoning </a:t>
            </a:r>
            <a:endParaRPr lang="zh-CN" altLang="en-US" sz="900" dirty="0">
              <a:solidFill>
                <a:schemeClr val="bg2"/>
              </a:solidFill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F46FECD-0692-7F68-CF45-C11FCCF5F8E8}"/>
              </a:ext>
            </a:extLst>
          </p:cNvPr>
          <p:cNvSpPr/>
          <p:nvPr/>
        </p:nvSpPr>
        <p:spPr>
          <a:xfrm>
            <a:off x="5527488" y="2692224"/>
            <a:ext cx="2298198" cy="715169"/>
          </a:xfrm>
          <a:prstGeom prst="roundRect">
            <a:avLst/>
          </a:prstGeom>
          <a:solidFill>
            <a:schemeClr val="tx1">
              <a:lumMod val="20000"/>
              <a:lumOff val="80000"/>
              <a:alpha val="13000"/>
            </a:schemeClr>
          </a:solidFill>
          <a:ln w="9525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bg2"/>
                </a:solidFill>
              </a:rPr>
              <a:t> Weighted Recipe Scoring (from CSV)</a:t>
            </a:r>
          </a:p>
          <a:p>
            <a:pPr algn="ctr"/>
            <a:r>
              <a:rPr lang="en-US" altLang="zh-CN" sz="900" dirty="0">
                <a:solidFill>
                  <a:schemeClr val="bg2"/>
                </a:solidFill>
              </a:rPr>
              <a:t>Uses </a:t>
            </a:r>
            <a:r>
              <a:rPr lang="en-US" altLang="zh-CN" sz="900" dirty="0" err="1">
                <a:solidFill>
                  <a:schemeClr val="bg2"/>
                </a:solidFill>
              </a:rPr>
              <a:t>diabetic_friendly</a:t>
            </a:r>
            <a:r>
              <a:rPr lang="en-US" altLang="zh-CN" sz="900" dirty="0">
                <a:solidFill>
                  <a:schemeClr val="bg2"/>
                </a:solidFill>
              </a:rPr>
              <a:t>, </a:t>
            </a:r>
            <a:r>
              <a:rPr lang="en-US" altLang="zh-CN" sz="900" dirty="0" err="1">
                <a:solidFill>
                  <a:schemeClr val="bg2"/>
                </a:solidFill>
              </a:rPr>
              <a:t>category_scores</a:t>
            </a:r>
            <a:endParaRPr lang="zh-CN" altLang="en-US" sz="900" dirty="0">
              <a:solidFill>
                <a:schemeClr val="bg2"/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D6BED51-A88E-B222-0150-A274C651BB45}"/>
              </a:ext>
            </a:extLst>
          </p:cNvPr>
          <p:cNvSpPr/>
          <p:nvPr/>
        </p:nvSpPr>
        <p:spPr>
          <a:xfrm>
            <a:off x="5814527" y="3702289"/>
            <a:ext cx="1724120" cy="292196"/>
          </a:xfrm>
          <a:prstGeom prst="roundRect">
            <a:avLst/>
          </a:prstGeom>
          <a:solidFill>
            <a:schemeClr val="tx1">
              <a:lumMod val="20000"/>
              <a:lumOff val="80000"/>
              <a:alpha val="13000"/>
            </a:schemeClr>
          </a:solidFill>
          <a:ln w="9525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bg2"/>
                </a:solidFill>
              </a:rPr>
              <a:t>Top Recipes (suitable / not)</a:t>
            </a:r>
            <a:endParaRPr lang="zh-CN" altLang="en-US" sz="900" dirty="0">
              <a:solidFill>
                <a:schemeClr val="bg2"/>
              </a:solidFill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B9C245A-5346-8C1B-2D10-56F2163CFF38}"/>
              </a:ext>
            </a:extLst>
          </p:cNvPr>
          <p:cNvSpPr/>
          <p:nvPr/>
        </p:nvSpPr>
        <p:spPr>
          <a:xfrm>
            <a:off x="5814527" y="4243143"/>
            <a:ext cx="1724120" cy="529682"/>
          </a:xfrm>
          <a:prstGeom prst="roundRect">
            <a:avLst/>
          </a:prstGeom>
          <a:solidFill>
            <a:schemeClr val="tx1">
              <a:lumMod val="20000"/>
              <a:lumOff val="80000"/>
              <a:alpha val="13000"/>
            </a:schemeClr>
          </a:solidFill>
          <a:ln w="9525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900" dirty="0">
                <a:solidFill>
                  <a:schemeClr val="bg2"/>
                </a:solidFill>
              </a:rPr>
              <a:t>LLM: Final Recommendation </a:t>
            </a:r>
          </a:p>
          <a:p>
            <a:r>
              <a:rPr lang="en-US" altLang="zh-CN" sz="900" dirty="0">
                <a:solidFill>
                  <a:schemeClr val="bg2"/>
                </a:solidFill>
              </a:rPr>
              <a:t>Using MCP context &amp; recipe </a:t>
            </a:r>
            <a:endParaRPr lang="zh-CN" altLang="en-US" sz="900" dirty="0">
              <a:solidFill>
                <a:schemeClr val="bg2"/>
              </a:solidFill>
            </a:endParaRP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E2A5FAC4-E413-314E-CFD8-11D267A5BAAD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676586" y="773024"/>
            <a:ext cx="0" cy="262366"/>
          </a:xfrm>
          <a:prstGeom prst="straightConnector1">
            <a:avLst/>
          </a:prstGeom>
          <a:ln w="127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DF491824-AAFD-344E-83E8-61D0A7E5CE43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676586" y="1287659"/>
            <a:ext cx="1" cy="273582"/>
          </a:xfrm>
          <a:prstGeom prst="straightConnector1">
            <a:avLst/>
          </a:prstGeom>
          <a:ln w="127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F02DAFE5-AD3F-62CB-122C-29B4FE145004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6676587" y="2210094"/>
            <a:ext cx="0" cy="482130"/>
          </a:xfrm>
          <a:prstGeom prst="straightConnector1">
            <a:avLst/>
          </a:prstGeom>
          <a:ln w="127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D84982B9-1A95-1D4A-56FC-1B7B611D347B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6676587" y="3407393"/>
            <a:ext cx="0" cy="294896"/>
          </a:xfrm>
          <a:prstGeom prst="straightConnector1">
            <a:avLst/>
          </a:prstGeom>
          <a:ln w="127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32C4E51-29AF-CF77-670C-D3E9C2446656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6676587" y="3994485"/>
            <a:ext cx="0" cy="248658"/>
          </a:xfrm>
          <a:prstGeom prst="straightConnector1">
            <a:avLst/>
          </a:prstGeom>
          <a:ln w="127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72162EA0-3AC7-AAC3-6ACE-F256ACEAEFD4}"/>
              </a:ext>
            </a:extLst>
          </p:cNvPr>
          <p:cNvSpPr txBox="1"/>
          <p:nvPr/>
        </p:nvSpPr>
        <p:spPr>
          <a:xfrm>
            <a:off x="6706749" y="2347875"/>
            <a:ext cx="121347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" dirty="0"/>
              <a:t>Input scores as weight</a:t>
            </a:r>
            <a:endParaRPr lang="zh-CN" alt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292" name="Google Shape;292;p40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293" name="Google Shape;293;p40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Model/Framework Selection &amp; Implementation</a:t>
            </a:r>
            <a:endParaRPr sz="36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94" name="Google Shape;294;p40"/>
          <p:cNvSpPr txBox="1"/>
          <p:nvPr/>
        </p:nvSpPr>
        <p:spPr>
          <a:xfrm>
            <a:off x="516425" y="1370275"/>
            <a:ext cx="4014324" cy="1438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Workflow Integration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ML prediction → preference scoring → recipe filtering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Joint decision logic for final recommendation</a:t>
            </a:r>
            <a:endParaRPr sz="1300" b="1" dirty="0">
              <a:solidFill>
                <a:schemeClr val="hlink"/>
              </a:solidFill>
            </a:endParaRPr>
          </a:p>
        </p:txBody>
      </p:sp>
      <p:sp>
        <p:nvSpPr>
          <p:cNvPr id="2" name="Google Shape;294;p40">
            <a:extLst>
              <a:ext uri="{FF2B5EF4-FFF2-40B4-BE49-F238E27FC236}">
                <a16:creationId xmlns:a16="http://schemas.microsoft.com/office/drawing/2014/main" id="{0575545E-A267-96AA-1C82-01D9149F9FA2}"/>
              </a:ext>
            </a:extLst>
          </p:cNvPr>
          <p:cNvSpPr txBox="1"/>
          <p:nvPr/>
        </p:nvSpPr>
        <p:spPr>
          <a:xfrm>
            <a:off x="4716377" y="1370275"/>
            <a:ext cx="3238215" cy="1524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Programming Stack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Python, Scikit-learn, imbalanced-learn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OpenAI API for LLM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GUI built with Gradio</a:t>
            </a:r>
            <a:endParaRPr sz="1300" b="1" dirty="0">
              <a:solidFill>
                <a:schemeClr val="hlink"/>
              </a:solidFill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AB7B016-D662-4DBF-83DC-D293DD0666CC}"/>
              </a:ext>
            </a:extLst>
          </p:cNvPr>
          <p:cNvSpPr/>
          <p:nvPr/>
        </p:nvSpPr>
        <p:spPr>
          <a:xfrm>
            <a:off x="579805" y="2988530"/>
            <a:ext cx="1226075" cy="288011"/>
          </a:xfrm>
          <a:prstGeom prst="round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bg2"/>
                </a:solidFill>
              </a:rPr>
              <a:t>User Input</a:t>
            </a:r>
            <a:endParaRPr lang="zh-CN" altLang="en-US" sz="1100" dirty="0">
              <a:solidFill>
                <a:schemeClr val="bg2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DCB8C76-3DC4-B871-FE69-B4E3A4D6F956}"/>
              </a:ext>
            </a:extLst>
          </p:cNvPr>
          <p:cNvSpPr/>
          <p:nvPr/>
        </p:nvSpPr>
        <p:spPr>
          <a:xfrm>
            <a:off x="4368110" y="2986355"/>
            <a:ext cx="1222639" cy="288011"/>
          </a:xfrm>
          <a:prstGeom prst="round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bg2"/>
                </a:solidFill>
              </a:rPr>
              <a:t>Parse </a:t>
            </a:r>
            <a:endParaRPr lang="zh-CN" altLang="en-US" sz="1100" dirty="0">
              <a:solidFill>
                <a:schemeClr val="bg2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BDA80801-7D61-ECDC-A272-11174AA256AC}"/>
              </a:ext>
            </a:extLst>
          </p:cNvPr>
          <p:cNvSpPr/>
          <p:nvPr/>
        </p:nvSpPr>
        <p:spPr>
          <a:xfrm>
            <a:off x="4929581" y="3641657"/>
            <a:ext cx="1101177" cy="2091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solidFill>
                  <a:schemeClr val="bg2"/>
                </a:solidFill>
              </a:rPr>
              <a:t>Preference Scores</a:t>
            </a:r>
            <a:endParaRPr lang="zh-CN" altLang="en-US" sz="800" dirty="0">
              <a:solidFill>
                <a:schemeClr val="bg2"/>
              </a:solidFill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ABA441D-EF36-FE46-F85B-73A333AD9DA1}"/>
              </a:ext>
            </a:extLst>
          </p:cNvPr>
          <p:cNvSpPr/>
          <p:nvPr/>
        </p:nvSpPr>
        <p:spPr>
          <a:xfrm>
            <a:off x="2434958" y="2988529"/>
            <a:ext cx="1226077" cy="288011"/>
          </a:xfrm>
          <a:prstGeom prst="round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bg2"/>
                </a:solidFill>
              </a:rPr>
              <a:t>ML Prediction</a:t>
            </a:r>
            <a:endParaRPr lang="zh-CN" altLang="en-US" sz="1100" dirty="0">
              <a:solidFill>
                <a:schemeClr val="bg2"/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2A59B8FE-EE47-DE56-D6A0-047AD16C2D84}"/>
              </a:ext>
            </a:extLst>
          </p:cNvPr>
          <p:cNvSpPr/>
          <p:nvPr/>
        </p:nvSpPr>
        <p:spPr>
          <a:xfrm>
            <a:off x="4120279" y="4285267"/>
            <a:ext cx="1718299" cy="288011"/>
          </a:xfrm>
          <a:prstGeom prst="round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bg2"/>
                </a:solidFill>
              </a:rPr>
              <a:t>Recommendation Logic</a:t>
            </a:r>
            <a:endParaRPr lang="zh-CN" altLang="en-US" sz="1100" dirty="0">
              <a:solidFill>
                <a:schemeClr val="bg2"/>
              </a:solidFill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F809837-4EE5-858A-9603-737C2281F465}"/>
              </a:ext>
            </a:extLst>
          </p:cNvPr>
          <p:cNvSpPr/>
          <p:nvPr/>
        </p:nvSpPr>
        <p:spPr>
          <a:xfrm>
            <a:off x="6713342" y="3714005"/>
            <a:ext cx="1693590" cy="288011"/>
          </a:xfrm>
          <a:prstGeom prst="round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bg2"/>
                </a:solidFill>
              </a:rPr>
              <a:t>Recipe Database</a:t>
            </a:r>
            <a:endParaRPr lang="zh-CN" altLang="en-US" sz="1100" dirty="0">
              <a:solidFill>
                <a:schemeClr val="bg2"/>
              </a:solidFill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D98AD3B-2DDA-4846-1281-3A07F1F850C6}"/>
              </a:ext>
            </a:extLst>
          </p:cNvPr>
          <p:cNvSpPr/>
          <p:nvPr/>
        </p:nvSpPr>
        <p:spPr>
          <a:xfrm>
            <a:off x="6947098" y="2998737"/>
            <a:ext cx="1226077" cy="288011"/>
          </a:xfrm>
          <a:prstGeom prst="round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bg2"/>
                </a:solidFill>
              </a:rPr>
              <a:t>GUI Output</a:t>
            </a:r>
            <a:endParaRPr lang="zh-CN" altLang="en-US" sz="1100" dirty="0">
              <a:solidFill>
                <a:schemeClr val="bg2"/>
              </a:solidFill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EEF1A2B3-44B2-B79B-8F4D-8F4F57C2EC8C}"/>
              </a:ext>
            </a:extLst>
          </p:cNvPr>
          <p:cNvSpPr/>
          <p:nvPr/>
        </p:nvSpPr>
        <p:spPr>
          <a:xfrm>
            <a:off x="2434957" y="3714005"/>
            <a:ext cx="1226076" cy="288011"/>
          </a:xfrm>
          <a:prstGeom prst="round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bg2"/>
                </a:solidFill>
              </a:rPr>
              <a:t>LLM </a:t>
            </a:r>
            <a:endParaRPr lang="zh-CN" altLang="en-US" sz="1100" dirty="0">
              <a:solidFill>
                <a:schemeClr val="bg2"/>
              </a:solidFill>
            </a:endParaRPr>
          </a:p>
        </p:txBody>
      </p: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36A57334-05FD-68C0-93AB-95FE199067D0}"/>
              </a:ext>
            </a:extLst>
          </p:cNvPr>
          <p:cNvCxnSpPr>
            <a:stCxn id="4" idx="2"/>
            <a:endCxn id="14" idx="0"/>
          </p:cNvCxnSpPr>
          <p:nvPr/>
        </p:nvCxnSpPr>
        <p:spPr>
          <a:xfrm rot="16200000" flipH="1">
            <a:off x="1901687" y="2567697"/>
            <a:ext cx="437464" cy="1855152"/>
          </a:xfrm>
          <a:prstGeom prst="bentConnector3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D685C5D3-065E-B853-D199-AAEEF5F30B30}"/>
              </a:ext>
            </a:extLst>
          </p:cNvPr>
          <p:cNvCxnSpPr>
            <a:stCxn id="7" idx="2"/>
            <a:endCxn id="14" idx="0"/>
          </p:cNvCxnSpPr>
          <p:nvPr/>
        </p:nvCxnSpPr>
        <p:spPr>
          <a:xfrm rot="5400000">
            <a:off x="2829264" y="3495271"/>
            <a:ext cx="437465" cy="2"/>
          </a:xfrm>
          <a:prstGeom prst="bentConnector3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25FDFD03-E151-21F7-66E5-8B196FD430A1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1805880" y="3132535"/>
            <a:ext cx="629078" cy="1"/>
          </a:xfrm>
          <a:prstGeom prst="bentConnector3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F54E2A5C-090D-A07B-7FF3-13157480FCA3}"/>
              </a:ext>
            </a:extLst>
          </p:cNvPr>
          <p:cNvCxnSpPr>
            <a:cxnSpLocks/>
            <a:stCxn id="14" idx="3"/>
            <a:endCxn id="5" idx="1"/>
          </p:cNvCxnSpPr>
          <p:nvPr/>
        </p:nvCxnSpPr>
        <p:spPr>
          <a:xfrm flipV="1">
            <a:off x="3661033" y="3130361"/>
            <a:ext cx="707077" cy="72765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BC26037-7C26-3BFC-3430-6D8559F7059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4979429" y="3274366"/>
            <a:ext cx="1" cy="1010901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连接符: 肘形 263">
            <a:extLst>
              <a:ext uri="{FF2B5EF4-FFF2-40B4-BE49-F238E27FC236}">
                <a16:creationId xmlns:a16="http://schemas.microsoft.com/office/drawing/2014/main" id="{EC7A415A-668A-2109-F830-63E769FE6765}"/>
              </a:ext>
            </a:extLst>
          </p:cNvPr>
          <p:cNvCxnSpPr>
            <a:stCxn id="8" idx="3"/>
            <a:endCxn id="9" idx="2"/>
          </p:cNvCxnSpPr>
          <p:nvPr/>
        </p:nvCxnSpPr>
        <p:spPr>
          <a:xfrm flipV="1">
            <a:off x="5838578" y="4002016"/>
            <a:ext cx="1721559" cy="427257"/>
          </a:xfrm>
          <a:prstGeom prst="bentConnector2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直接箭头连接符 265">
            <a:extLst>
              <a:ext uri="{FF2B5EF4-FFF2-40B4-BE49-F238E27FC236}">
                <a16:creationId xmlns:a16="http://schemas.microsoft.com/office/drawing/2014/main" id="{0CC04D9C-57A2-3EB7-0591-8B68CED42716}"/>
              </a:ext>
            </a:extLst>
          </p:cNvPr>
          <p:cNvCxnSpPr>
            <a:stCxn id="9" idx="0"/>
            <a:endCxn id="10" idx="2"/>
          </p:cNvCxnSpPr>
          <p:nvPr/>
        </p:nvCxnSpPr>
        <p:spPr>
          <a:xfrm flipV="1">
            <a:off x="7560137" y="3286748"/>
            <a:ext cx="0" cy="427257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8" name="矩形 267">
            <a:extLst>
              <a:ext uri="{FF2B5EF4-FFF2-40B4-BE49-F238E27FC236}">
                <a16:creationId xmlns:a16="http://schemas.microsoft.com/office/drawing/2014/main" id="{C904E03E-6438-6AC3-AAD3-F8052800BDE4}"/>
              </a:ext>
            </a:extLst>
          </p:cNvPr>
          <p:cNvSpPr/>
          <p:nvPr/>
        </p:nvSpPr>
        <p:spPr>
          <a:xfrm>
            <a:off x="3874168" y="2743197"/>
            <a:ext cx="2341001" cy="1969741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矩形: 圆角 268">
            <a:extLst>
              <a:ext uri="{FF2B5EF4-FFF2-40B4-BE49-F238E27FC236}">
                <a16:creationId xmlns:a16="http://schemas.microsoft.com/office/drawing/2014/main" id="{6CAB6AAE-642B-7506-B396-1EA4BD7F980B}"/>
              </a:ext>
            </a:extLst>
          </p:cNvPr>
          <p:cNvSpPr/>
          <p:nvPr/>
        </p:nvSpPr>
        <p:spPr>
          <a:xfrm>
            <a:off x="4428839" y="4776037"/>
            <a:ext cx="1101177" cy="2091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solidFill>
                  <a:schemeClr val="bg2"/>
                </a:solidFill>
              </a:rPr>
              <a:t>MCP</a:t>
            </a:r>
            <a:endParaRPr lang="zh-CN" altLang="en-US" sz="8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300" name="Google Shape;300;p41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301" name="Google Shape;301;p41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 Interpretation（Machine Learning）</a:t>
            </a:r>
            <a:endParaRPr sz="365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02" name="Google Shape;302;p41"/>
          <p:cNvSpPr txBox="1"/>
          <p:nvPr/>
        </p:nvSpPr>
        <p:spPr>
          <a:xfrm>
            <a:off x="516425" y="1370275"/>
            <a:ext cx="6790500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 b="1" dirty="0">
                <a:solidFill>
                  <a:schemeClr val="hlink"/>
                </a:solidFill>
              </a:rPr>
              <a:t>🔹 Model Performance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-US" sz="1100" dirty="0">
                <a:solidFill>
                  <a:schemeClr val="hlink"/>
                </a:solidFill>
              </a:rPr>
              <a:t>Removed low-correlation features ( |r| &lt; 0.2)</a:t>
            </a:r>
            <a:br>
              <a:rPr lang="en-US" sz="1100" dirty="0">
                <a:solidFill>
                  <a:schemeClr val="hlink"/>
                </a:solidFill>
              </a:rPr>
            </a:br>
            <a:endParaRPr lang="en-US" sz="1100" dirty="0">
              <a:solidFill>
                <a:schemeClr val="hlink"/>
              </a:solidFill>
            </a:endParaRPr>
          </a:p>
          <a:p>
            <a:pPr marL="457200" indent="-298450">
              <a:lnSpc>
                <a:spcPct val="115000"/>
              </a:lnSpc>
              <a:buClr>
                <a:schemeClr val="hlink"/>
              </a:buClr>
              <a:buSzPts val="1100"/>
              <a:buFont typeface="Arial"/>
              <a:buChar char="●"/>
            </a:pPr>
            <a:r>
              <a:rPr lang="en-US" altLang="zh-CN" sz="1100" dirty="0">
                <a:solidFill>
                  <a:schemeClr val="hlink"/>
                </a:solidFill>
              </a:rPr>
              <a:t>SMOTE enhances recall for minority (diabetic) class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endParaRPr lang="en"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Ensemble models outperform individual ones in both AUC and AUPR</a:t>
            </a:r>
            <a:br>
              <a:rPr lang="en" sz="1100" dirty="0">
                <a:solidFill>
                  <a:schemeClr val="hlink"/>
                </a:solidFill>
              </a:rPr>
            </a:b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Stacking improves prediction stability across folds</a:t>
            </a:r>
            <a:br>
              <a:rPr lang="en" sz="1100" dirty="0">
                <a:solidFill>
                  <a:schemeClr val="hlink"/>
                </a:solidFill>
              </a:rPr>
            </a:br>
            <a:endParaRPr sz="1100" dirty="0">
              <a:solidFill>
                <a:schemeClr val="hlink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300" b="1" dirty="0">
              <a:solidFill>
                <a:schemeClr val="hlink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>
          <a:extLst>
            <a:ext uri="{FF2B5EF4-FFF2-40B4-BE49-F238E27FC236}">
              <a16:creationId xmlns:a16="http://schemas.microsoft.com/office/drawing/2014/main" id="{6FB0F3B4-1FA0-3DA5-9AC8-A6AA1B1EE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1">
            <a:extLst>
              <a:ext uri="{FF2B5EF4-FFF2-40B4-BE49-F238E27FC236}">
                <a16:creationId xmlns:a16="http://schemas.microsoft.com/office/drawing/2014/main" id="{4F0C1E06-63D3-723A-A46B-A9F1332998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300" name="Google Shape;300;p41">
            <a:extLst>
              <a:ext uri="{FF2B5EF4-FFF2-40B4-BE49-F238E27FC236}">
                <a16:creationId xmlns:a16="http://schemas.microsoft.com/office/drawing/2014/main" id="{2DD80AC5-09CC-33DA-A394-0B13DA0CCA6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301" name="Google Shape;301;p41">
            <a:extLst>
              <a:ext uri="{FF2B5EF4-FFF2-40B4-BE49-F238E27FC236}">
                <a16:creationId xmlns:a16="http://schemas.microsoft.com/office/drawing/2014/main" id="{8FE477B1-21D2-E748-18AB-49D39799BB11}"/>
              </a:ext>
            </a:extLst>
          </p:cNvPr>
          <p:cNvSpPr txBox="1"/>
          <p:nvPr/>
        </p:nvSpPr>
        <p:spPr>
          <a:xfrm>
            <a:off x="516436" y="744789"/>
            <a:ext cx="7306231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 Interpretation（</a:t>
            </a:r>
            <a:r>
              <a:rPr lang="en-US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Removed low-correlation features</a:t>
            </a:r>
            <a:r>
              <a:rPr lang="en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sz="365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02" name="Google Shape;302;p41">
            <a:extLst>
              <a:ext uri="{FF2B5EF4-FFF2-40B4-BE49-F238E27FC236}">
                <a16:creationId xmlns:a16="http://schemas.microsoft.com/office/drawing/2014/main" id="{E34BE26A-B6CC-C209-90D7-15BB5AA354AC}"/>
              </a:ext>
            </a:extLst>
          </p:cNvPr>
          <p:cNvSpPr txBox="1"/>
          <p:nvPr/>
        </p:nvSpPr>
        <p:spPr>
          <a:xfrm>
            <a:off x="516425" y="1370275"/>
            <a:ext cx="6790500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 b="1" dirty="0">
                <a:solidFill>
                  <a:schemeClr val="hlink"/>
                </a:solidFill>
              </a:rPr>
              <a:t>🔹 </a:t>
            </a:r>
            <a:r>
              <a:rPr lang="en" altLang="zh-CN" sz="1400" dirty="0">
                <a:solidFill>
                  <a:schemeClr val="hlink"/>
                </a:solidFill>
              </a:rPr>
              <a:t>Removed low-correlation features ( |r| &lt; 0.2)</a:t>
            </a:r>
            <a:endParaRPr sz="1300" b="1" dirty="0">
              <a:solidFill>
                <a:schemeClr val="hlink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4D12B3-FFFB-5345-D669-A33188F16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31" y="2419356"/>
            <a:ext cx="7560137" cy="1979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494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>
          <a:extLst>
            <a:ext uri="{FF2B5EF4-FFF2-40B4-BE49-F238E27FC236}">
              <a16:creationId xmlns:a16="http://schemas.microsoft.com/office/drawing/2014/main" id="{D4BD9CCB-F9BD-755D-4B5E-2CAA8A1CD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1">
            <a:extLst>
              <a:ext uri="{FF2B5EF4-FFF2-40B4-BE49-F238E27FC236}">
                <a16:creationId xmlns:a16="http://schemas.microsoft.com/office/drawing/2014/main" id="{9D30FF2E-217B-B4CC-D6D6-2A9AC628D63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sp>
        <p:nvSpPr>
          <p:cNvPr id="300" name="Google Shape;300;p41">
            <a:extLst>
              <a:ext uri="{FF2B5EF4-FFF2-40B4-BE49-F238E27FC236}">
                <a16:creationId xmlns:a16="http://schemas.microsoft.com/office/drawing/2014/main" id="{6CD0107A-DB96-90BB-C557-59708C56461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301" name="Google Shape;301;p41">
            <a:extLst>
              <a:ext uri="{FF2B5EF4-FFF2-40B4-BE49-F238E27FC236}">
                <a16:creationId xmlns:a16="http://schemas.microsoft.com/office/drawing/2014/main" id="{D4C35E34-78A8-9497-423A-6E1F708AF900}"/>
              </a:ext>
            </a:extLst>
          </p:cNvPr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 Interpretation（</a:t>
            </a:r>
            <a:r>
              <a:rPr lang="en-US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Ensemble models</a:t>
            </a:r>
            <a:r>
              <a:rPr lang="en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sz="365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02" name="Google Shape;302;p41">
            <a:extLst>
              <a:ext uri="{FF2B5EF4-FFF2-40B4-BE49-F238E27FC236}">
                <a16:creationId xmlns:a16="http://schemas.microsoft.com/office/drawing/2014/main" id="{385F8C29-0271-03A2-07C9-081903D58A8C}"/>
              </a:ext>
            </a:extLst>
          </p:cNvPr>
          <p:cNvSpPr txBox="1"/>
          <p:nvPr/>
        </p:nvSpPr>
        <p:spPr>
          <a:xfrm>
            <a:off x="516437" y="1370275"/>
            <a:ext cx="6793976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hlink"/>
                </a:solidFill>
              </a:rPr>
              <a:t>🔹 </a:t>
            </a:r>
            <a:r>
              <a:rPr lang="en-US" altLang="zh-CN" sz="1400" dirty="0">
                <a:solidFill>
                  <a:schemeClr val="hlink"/>
                </a:solidFill>
              </a:rPr>
              <a:t>Ensemble models outperform single classifiers in AUC and AUPR, providing more reliable predictions.</a:t>
            </a: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endParaRPr lang="en-US" sz="1300" b="1" dirty="0">
              <a:solidFill>
                <a:schemeClr val="hlink"/>
              </a:solidFill>
            </a:endParaRPr>
          </a:p>
        </p:txBody>
      </p:sp>
      <p:pic>
        <p:nvPicPr>
          <p:cNvPr id="5" name="Google Shape;269;p37">
            <a:extLst>
              <a:ext uri="{FF2B5EF4-FFF2-40B4-BE49-F238E27FC236}">
                <a16:creationId xmlns:a16="http://schemas.microsoft.com/office/drawing/2014/main" id="{DD0DF778-60C6-96D6-BFAF-5AD863EB6C0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51287" y="2194183"/>
            <a:ext cx="4574000" cy="266583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838035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>
          <a:extLst>
            <a:ext uri="{FF2B5EF4-FFF2-40B4-BE49-F238E27FC236}">
              <a16:creationId xmlns:a16="http://schemas.microsoft.com/office/drawing/2014/main" id="{3748EEA2-3F55-CAFF-D032-635AA4A88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1">
            <a:extLst>
              <a:ext uri="{FF2B5EF4-FFF2-40B4-BE49-F238E27FC236}">
                <a16:creationId xmlns:a16="http://schemas.microsoft.com/office/drawing/2014/main" id="{95C0B607-490D-3762-C6B9-6A3D21F0D5C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sp>
        <p:nvSpPr>
          <p:cNvPr id="300" name="Google Shape;300;p41">
            <a:extLst>
              <a:ext uri="{FF2B5EF4-FFF2-40B4-BE49-F238E27FC236}">
                <a16:creationId xmlns:a16="http://schemas.microsoft.com/office/drawing/2014/main" id="{456C44E0-BA86-14EE-2967-48D8712AE58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301" name="Google Shape;301;p41">
            <a:extLst>
              <a:ext uri="{FF2B5EF4-FFF2-40B4-BE49-F238E27FC236}">
                <a16:creationId xmlns:a16="http://schemas.microsoft.com/office/drawing/2014/main" id="{F7E58626-0563-45BD-A4CA-19AAE8D51640}"/>
              </a:ext>
            </a:extLst>
          </p:cNvPr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 Interpretation（</a:t>
            </a:r>
            <a:r>
              <a:rPr lang="en-US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SMOTE</a:t>
            </a:r>
            <a:r>
              <a:rPr lang="en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sz="365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02" name="Google Shape;302;p41">
            <a:extLst>
              <a:ext uri="{FF2B5EF4-FFF2-40B4-BE49-F238E27FC236}">
                <a16:creationId xmlns:a16="http://schemas.microsoft.com/office/drawing/2014/main" id="{9C5959C0-8370-01AF-0C60-04F094FC6E7C}"/>
              </a:ext>
            </a:extLst>
          </p:cNvPr>
          <p:cNvSpPr txBox="1"/>
          <p:nvPr/>
        </p:nvSpPr>
        <p:spPr>
          <a:xfrm>
            <a:off x="516424" y="1370275"/>
            <a:ext cx="7114747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spcBef>
                <a:spcPts val="1400"/>
              </a:spcBef>
            </a:pPr>
            <a:r>
              <a:rPr lang="en" sz="1300" b="1" dirty="0">
                <a:solidFill>
                  <a:schemeClr val="hlink"/>
                </a:solidFill>
              </a:rPr>
              <a:t>🔹 </a:t>
            </a:r>
            <a:r>
              <a:rPr lang="en-US" altLang="zh-CN" sz="1400" dirty="0">
                <a:solidFill>
                  <a:schemeClr val="hlink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SMOTE (Synthetic Minority Over-sampling Technique) helps balance the dataset by generating synthetic samples for the minority class, improving model performance on imbalanced data.</a:t>
            </a: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endParaRPr sz="1300" b="1" dirty="0">
              <a:solidFill>
                <a:schemeClr val="hlink"/>
              </a:solidFill>
            </a:endParaRPr>
          </a:p>
        </p:txBody>
      </p:sp>
      <p:pic>
        <p:nvPicPr>
          <p:cNvPr id="6" name="Google Shape;278;p38">
            <a:extLst>
              <a:ext uri="{FF2B5EF4-FFF2-40B4-BE49-F238E27FC236}">
                <a16:creationId xmlns:a16="http://schemas.microsoft.com/office/drawing/2014/main" id="{F86C7BC3-38C1-62EF-11F6-90C3956693B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9325" y="2425853"/>
            <a:ext cx="5403726" cy="22373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865602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sp>
        <p:nvSpPr>
          <p:cNvPr id="308" name="Google Shape;308;p42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309" name="Google Shape;309;p42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 Interpretation（LLM + MCP）</a:t>
            </a:r>
            <a:endParaRPr sz="36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10" name="Google Shape;310;p42"/>
          <p:cNvSpPr txBox="1"/>
          <p:nvPr/>
        </p:nvSpPr>
        <p:spPr>
          <a:xfrm>
            <a:off x="516425" y="1370275"/>
            <a:ext cx="6790500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>
                <a:solidFill>
                  <a:schemeClr val="hlink"/>
                </a:solidFill>
              </a:rPr>
              <a:t>🔹 Interpretable Output from LLM</a:t>
            </a:r>
            <a:endParaRPr sz="1300" b="1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MCP ensures structured, score-based food preference output</a:t>
            </a:r>
            <a:br>
              <a:rPr lang="en" sz="1100">
                <a:solidFill>
                  <a:schemeClr val="hlink"/>
                </a:solidFill>
              </a:rPr>
            </a:b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Category scores (–5 to +5) reflect user intent clearly</a:t>
            </a:r>
            <a:br>
              <a:rPr lang="en" sz="1100">
                <a:solidFill>
                  <a:schemeClr val="hlink"/>
                </a:solidFill>
              </a:rPr>
            </a:b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Includes reasoning to explain recommendations</a:t>
            </a:r>
            <a:endParaRPr sz="1300" b="1">
              <a:solidFill>
                <a:schemeClr val="hlink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sp>
        <p:nvSpPr>
          <p:cNvPr id="316" name="Google Shape;316;p43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317" name="Google Shape;317;p43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 Interpretation（apps use cases）</a:t>
            </a:r>
            <a:endParaRPr sz="36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18" name="Google Shape;318;p43"/>
          <p:cNvSpPr txBox="1"/>
          <p:nvPr/>
        </p:nvSpPr>
        <p:spPr>
          <a:xfrm>
            <a:off x="516425" y="1370275"/>
            <a:ext cx="6790500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hlink"/>
                </a:solidFill>
              </a:rPr>
              <a:t>🔹 User-Facing Explanation via GUI</a:t>
            </a:r>
            <a:endParaRPr sz="1300" b="1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GUI shows predicted risk and recommended recipes</a:t>
            </a:r>
            <a:br>
              <a:rPr lang="en" sz="1100">
                <a:solidFill>
                  <a:schemeClr val="hlink"/>
                </a:solidFill>
              </a:rPr>
            </a:b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Clearly separates suitable and not-suitable options</a:t>
            </a:r>
            <a:br>
              <a:rPr lang="en" sz="1100">
                <a:solidFill>
                  <a:schemeClr val="hlink"/>
                </a:solidFill>
              </a:rPr>
            </a:b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Enhances transparency for end users</a:t>
            </a:r>
            <a:endParaRPr sz="1100">
              <a:solidFill>
                <a:schemeClr val="hlink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300" b="1">
              <a:solidFill>
                <a:schemeClr val="hlink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324" name="Google Shape;324;p44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325" name="Google Shape;325;p44"/>
          <p:cNvSpPr txBox="1"/>
          <p:nvPr/>
        </p:nvSpPr>
        <p:spPr>
          <a:xfrm>
            <a:off x="516437" y="397590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Creativity and Innovation</a:t>
            </a:r>
            <a:endParaRPr sz="365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26" name="Google Shape;326;p44"/>
          <p:cNvSpPr txBox="1"/>
          <p:nvPr/>
        </p:nvSpPr>
        <p:spPr>
          <a:xfrm>
            <a:off x="516425" y="779005"/>
            <a:ext cx="6790500" cy="36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MCP + LLM Preference Scoring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Used </a:t>
            </a:r>
            <a:r>
              <a:rPr lang="en" sz="1100" b="1" dirty="0">
                <a:solidFill>
                  <a:schemeClr val="hlink"/>
                </a:solidFill>
              </a:rPr>
              <a:t>Model Context Protocol</a:t>
            </a:r>
            <a:r>
              <a:rPr lang="en" sz="1100" dirty="0">
                <a:solidFill>
                  <a:schemeClr val="hlink"/>
                </a:solidFill>
              </a:rPr>
              <a:t> to extract structured scores from natural language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Enables controllable, explainable generative output – beyond simple prompting</a:t>
            </a:r>
            <a:endParaRPr sz="1100" dirty="0">
              <a:solidFill>
                <a:schemeClr val="hlink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Two-Stage Recommendation Logic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Combined ML-based health risk prediction with LLM-based user intent parsing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Joint scoring mechanism ensures both health-aware and preference-driven filtering</a:t>
            </a:r>
            <a:endParaRPr sz="1100" dirty="0">
              <a:solidFill>
                <a:schemeClr val="hlink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Diabetic-Specific Recipe Filtering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Added logic to </a:t>
            </a:r>
            <a:r>
              <a:rPr lang="en" sz="1100" b="1" dirty="0">
                <a:solidFill>
                  <a:schemeClr val="hlink"/>
                </a:solidFill>
              </a:rPr>
              <a:t>flag and display “not suitable” recipes</a:t>
            </a:r>
            <a:r>
              <a:rPr lang="en" sz="1100" dirty="0">
                <a:solidFill>
                  <a:schemeClr val="hlink"/>
                </a:solidFill>
              </a:rPr>
              <a:t> for awareness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Rarely seen in typical recommendation systems</a:t>
            </a:r>
            <a:endParaRPr sz="1100" dirty="0">
              <a:solidFill>
                <a:schemeClr val="hlink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 b="1" dirty="0">
                <a:solidFill>
                  <a:schemeClr val="hlink"/>
                </a:solidFill>
              </a:rPr>
              <a:t>🔹 Fully Functional GUI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Built an interface that non-technical users can interact with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Integrates ML, LLM, and recommendation results in one place</a:t>
            </a:r>
            <a:br>
              <a:rPr lang="en" sz="1100" dirty="0">
                <a:solidFill>
                  <a:schemeClr val="hlink"/>
                </a:solidFill>
              </a:rPr>
            </a:br>
            <a:endParaRPr sz="1100" dirty="0">
              <a:solidFill>
                <a:schemeClr val="hlink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solidFill>
                <a:schemeClr val="hlink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300" b="1" dirty="0">
              <a:solidFill>
                <a:schemeClr val="hlink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sp>
        <p:nvSpPr>
          <p:cNvPr id="332" name="Google Shape;332;p45"/>
          <p:cNvSpPr txBox="1">
            <a:spLocks noGrp="1"/>
          </p:cNvSpPr>
          <p:nvPr>
            <p:ph type="subTitle" idx="1"/>
          </p:nvPr>
        </p:nvSpPr>
        <p:spPr>
          <a:xfrm>
            <a:off x="975300" y="1864050"/>
            <a:ext cx="7193400" cy="11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 for Your Attention</a:t>
            </a:r>
            <a:endParaRPr/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333" name="Google Shape;333;p45"/>
          <p:cNvSpPr txBox="1"/>
          <p:nvPr/>
        </p:nvSpPr>
        <p:spPr>
          <a:xfrm>
            <a:off x="1660075" y="2571750"/>
            <a:ext cx="5427600" cy="11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ience Presentation">
  <a:themeElements>
    <a:clrScheme name="Simple Light">
      <a:dk1>
        <a:srgbClr val="005088"/>
      </a:dk1>
      <a:lt1>
        <a:srgbClr val="F3F0DF"/>
      </a:lt1>
      <a:dk2>
        <a:srgbClr val="121212"/>
      </a:dk2>
      <a:lt2>
        <a:srgbClr val="D0E0E3"/>
      </a:lt2>
      <a:accent1>
        <a:srgbClr val="11CAA0"/>
      </a:accent1>
      <a:accent2>
        <a:srgbClr val="6D6D6B"/>
      </a:accent2>
      <a:accent3>
        <a:srgbClr val="FFFFFF"/>
      </a:accent3>
      <a:accent4>
        <a:srgbClr val="656839"/>
      </a:accent4>
      <a:accent5>
        <a:srgbClr val="774936"/>
      </a:accent5>
      <a:accent6>
        <a:srgbClr val="C492B1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893</Words>
  <Application>Microsoft Office PowerPoint</Application>
  <PresentationFormat>On-screen Show (16:9)</PresentationFormat>
  <Paragraphs>145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Times New Roman</vt:lpstr>
      <vt:lpstr>DM Sans</vt:lpstr>
      <vt:lpstr>DM Sans Medium</vt:lpstr>
      <vt:lpstr>Merriweather</vt:lpstr>
      <vt:lpstr>Science Presentation</vt:lpstr>
      <vt:lpstr>DiabetaRec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Jiaxian Li</cp:lastModifiedBy>
  <cp:revision>8</cp:revision>
  <dcterms:modified xsi:type="dcterms:W3CDTF">2025-04-08T01:44:27Z</dcterms:modified>
</cp:coreProperties>
</file>